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e1f7e9605c4028" /><Relationship Type="http://schemas.openxmlformats.org/officeDocument/2006/relationships/extended-properties" Target="/docProps/app.xml" Id="Ra7c04650d17b4429" /><Relationship Type="http://schemas.openxmlformats.org/officeDocument/2006/relationships/officeDocument" Target="/ppt/presentation.xml" Id="R0b2d50269ff544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f5d29d6b91444a"/>
  </p:sldMasterIdLst>
  <p:notesMasterIdLst>
    <p:notesMasterId xmlns:r="http://schemas.openxmlformats.org/officeDocument/2006/relationships" r:id="R26fa49db9b4d499e"/>
  </p:notesMasterIdLst>
  <p:sldIdLst>
    <p:sldId xmlns:r="http://schemas.openxmlformats.org/officeDocument/2006/relationships" id="256" r:id="Rf0de816381814982"/>
    <p:sldId xmlns:r="http://schemas.openxmlformats.org/officeDocument/2006/relationships" id="257" r:id="Rd1ed13589b7141ba"/>
    <p:sldId xmlns:r="http://schemas.openxmlformats.org/officeDocument/2006/relationships" id="258" r:id="Rf19cc20bc35741b1"/>
    <p:sldId xmlns:r="http://schemas.openxmlformats.org/officeDocument/2006/relationships" id="259" r:id="Rdc83c67f17c84b06"/>
    <p:sldId xmlns:r="http://schemas.openxmlformats.org/officeDocument/2006/relationships" id="260" r:id="Re291377ae7f74511"/>
    <p:sldId xmlns:r="http://schemas.openxmlformats.org/officeDocument/2006/relationships" id="261" r:id="R500bb0b83dbc4098"/>
    <p:sldId xmlns:r="http://schemas.openxmlformats.org/officeDocument/2006/relationships" id="262" r:id="Rf30b825ec6c14ae1"/>
    <p:sldId xmlns:r="http://schemas.openxmlformats.org/officeDocument/2006/relationships" id="263" r:id="Rdb3128c4f5a746f2"/>
    <p:sldId xmlns:r="http://schemas.openxmlformats.org/officeDocument/2006/relationships" id="264" r:id="R816f733a921640ab"/>
    <p:sldId xmlns:r="http://schemas.openxmlformats.org/officeDocument/2006/relationships" id="265" r:id="R41d2ab0f8c714723"/>
    <p:sldId xmlns:r="http://schemas.openxmlformats.org/officeDocument/2006/relationships" id="266" r:id="R204875ec64f9414c"/>
    <p:sldId xmlns:r="http://schemas.openxmlformats.org/officeDocument/2006/relationships" id="267" r:id="Ra446428e4d034c9f"/>
    <p:sldId xmlns:r="http://schemas.openxmlformats.org/officeDocument/2006/relationships" id="268" r:id="Rdeb1e9538d194af7"/>
    <p:sldId xmlns:r="http://schemas.openxmlformats.org/officeDocument/2006/relationships" id="269" r:id="R028bf64ca30849c8"/>
    <p:sldId xmlns:r="http://schemas.openxmlformats.org/officeDocument/2006/relationships" id="270" r:id="Rc9675ac7aebe4d91"/>
    <p:sldId xmlns:r="http://schemas.openxmlformats.org/officeDocument/2006/relationships" id="271" r:id="Rd281ddf04f2546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d2f2e378594d23" /><Relationship Type="http://schemas.openxmlformats.org/officeDocument/2006/relationships/slideMaster" Target="/ppt/slideMasters/slideMaster1.xml" Id="R1ef5d29d6b91444a" /><Relationship Type="http://schemas.openxmlformats.org/officeDocument/2006/relationships/notesMaster" Target="/ppt/notesMasters/notesMaster1.xml" Id="R26fa49db9b4d499e" /><Relationship Type="http://schemas.openxmlformats.org/officeDocument/2006/relationships/presProps" Target="/ppt/presProps.xml" Id="R01c9cc0e71c04690" /><Relationship Type="http://schemas.openxmlformats.org/officeDocument/2006/relationships/tableStyles" Target="/ppt/tableStyles.xml" Id="Rc5e2b4c10bb44884" /><Relationship Type="http://schemas.openxmlformats.org/officeDocument/2006/relationships/slide" Target="/ppt/slides/slide1.xml" Id="Rf0de816381814982" /><Relationship Type="http://schemas.openxmlformats.org/officeDocument/2006/relationships/slide" Target="/ppt/slides/slide2.xml" Id="Rd1ed13589b7141ba" /><Relationship Type="http://schemas.openxmlformats.org/officeDocument/2006/relationships/slide" Target="/ppt/slides/slide3.xml" Id="Rf19cc20bc35741b1" /><Relationship Type="http://schemas.openxmlformats.org/officeDocument/2006/relationships/slide" Target="/ppt/slides/slide4.xml" Id="Rdc83c67f17c84b06" /><Relationship Type="http://schemas.openxmlformats.org/officeDocument/2006/relationships/slide" Target="/ppt/slides/slide5.xml" Id="Re291377ae7f74511" /><Relationship Type="http://schemas.openxmlformats.org/officeDocument/2006/relationships/slide" Target="/ppt/slides/slide6.xml" Id="R500bb0b83dbc4098" /><Relationship Type="http://schemas.openxmlformats.org/officeDocument/2006/relationships/slide" Target="/ppt/slides/slide7.xml" Id="Rf30b825ec6c14ae1" /><Relationship Type="http://schemas.openxmlformats.org/officeDocument/2006/relationships/slide" Target="/ppt/slides/slide8.xml" Id="Rdb3128c4f5a746f2" /><Relationship Type="http://schemas.openxmlformats.org/officeDocument/2006/relationships/slide" Target="/ppt/slides/slide9.xml" Id="R816f733a921640ab" /><Relationship Type="http://schemas.openxmlformats.org/officeDocument/2006/relationships/slide" Target="/ppt/slides/slide10.xml" Id="R41d2ab0f8c714723" /><Relationship Type="http://schemas.openxmlformats.org/officeDocument/2006/relationships/slide" Target="/ppt/slides/slide11.xml" Id="R204875ec64f9414c" /><Relationship Type="http://schemas.openxmlformats.org/officeDocument/2006/relationships/slide" Target="/ppt/slides/slide12.xml" Id="Ra446428e4d034c9f" /><Relationship Type="http://schemas.openxmlformats.org/officeDocument/2006/relationships/slide" Target="/ppt/slides/slide13.xml" Id="Rdeb1e9538d194af7" /><Relationship Type="http://schemas.openxmlformats.org/officeDocument/2006/relationships/slide" Target="/ppt/slides/slide14.xml" Id="R028bf64ca30849c8" /><Relationship Type="http://schemas.openxmlformats.org/officeDocument/2006/relationships/slide" Target="/ppt/slides/slide15.xml" Id="Rc9675ac7aebe4d91" /><Relationship Type="http://schemas.openxmlformats.org/officeDocument/2006/relationships/slide" Target="/ppt/slides/slide16.xml" Id="Rd281ddf04f2546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bd4f9be88d46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DBTabl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F8EA6"/>
      </a:accent1>
      <a:accent2>
        <a:srgbClr val="2E7D59"/>
      </a:accent2>
      <a:accent3>
        <a:srgbClr val="D99A25"/>
      </a:accent3>
      <a:accent4>
        <a:srgbClr val="B5443C"/>
      </a:accent4>
      <a:accent5>
        <a:srgbClr val="5A667A"/>
      </a:accent5>
      <a:accent6>
        <a:srgbClr val="D7DFEA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BTab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8c51e5e08d4e42" /><Relationship Type="http://schemas.openxmlformats.org/officeDocument/2006/relationships/notesMaster" Target="/ppt/notesMasters/notesMaster1.xml" Id="Rb641b7c9f65f45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627f103143446a" /><Relationship Type="http://schemas.openxmlformats.org/officeDocument/2006/relationships/notesMaster" Target="/ppt/notesMasters/notesMaster1.xml" Id="R86e21b80fdd142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995038c2b845ee" /><Relationship Type="http://schemas.openxmlformats.org/officeDocument/2006/relationships/notesMaster" Target="/ppt/notesMasters/notesMaster1.xml" Id="R29973e5c7af448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7c74789a3c44b0" /><Relationship Type="http://schemas.openxmlformats.org/officeDocument/2006/relationships/notesMaster" Target="/ppt/notesMasters/notesMaster1.xml" Id="Rb5dde70289984a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c626c76bba4a2f" /><Relationship Type="http://schemas.openxmlformats.org/officeDocument/2006/relationships/notesMaster" Target="/ppt/notesMasters/notesMaster1.xml" Id="R83a77088910044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2d8f4fa06d4c2c" /><Relationship Type="http://schemas.openxmlformats.org/officeDocument/2006/relationships/notesMaster" Target="/ppt/notesMasters/notesMaster1.xml" Id="Rcb8ac8e2a77a41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7295d2aa424761" /><Relationship Type="http://schemas.openxmlformats.org/officeDocument/2006/relationships/notesMaster" Target="/ppt/notesMasters/notesMaster1.xml" Id="Re3361b7425c043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e8969155a14837" /><Relationship Type="http://schemas.openxmlformats.org/officeDocument/2006/relationships/notesMaster" Target="/ppt/notesMasters/notesMaster1.xml" Id="R1e28ae001aed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40a269255549a0" /><Relationship Type="http://schemas.openxmlformats.org/officeDocument/2006/relationships/notesMaster" Target="/ppt/notesMasters/notesMaster1.xml" Id="Ra8b8b6d0568e40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a1124a2c7546ba" /><Relationship Type="http://schemas.openxmlformats.org/officeDocument/2006/relationships/notesMaster" Target="/ppt/notesMasters/notesMaster1.xml" Id="R40ac2c7a363f46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3aaa728bd2485c" /><Relationship Type="http://schemas.openxmlformats.org/officeDocument/2006/relationships/notesMaster" Target="/ppt/notesMasters/notesMaster1.xml" Id="R8d38badf2cdf48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7a6cd3c6a14c2f" /><Relationship Type="http://schemas.openxmlformats.org/officeDocument/2006/relationships/notesMaster" Target="/ppt/notesMasters/notesMaster1.xml" Id="R0085dda1b0ce45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67744778734cff" /><Relationship Type="http://schemas.openxmlformats.org/officeDocument/2006/relationships/notesMaster" Target="/ppt/notesMasters/notesMaster1.xml" Id="R2b303569e80245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25da152c7440a3" /><Relationship Type="http://schemas.openxmlformats.org/officeDocument/2006/relationships/notesMaster" Target="/ppt/notesMasters/notesMaster1.xml" Id="Rc703b7a3354149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90852cc61943cf" /><Relationship Type="http://schemas.openxmlformats.org/officeDocument/2006/relationships/notesMaster" Target="/ppt/notesMasters/notesMaster1.xml" Id="R5f2ca6a2a2dc45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b2228fff68441f" /><Relationship Type="http://schemas.openxmlformats.org/officeDocument/2006/relationships/notesMaster" Target="/ppt/notesMasters/notesMaster1.xml" Id="R0b83271b8a2447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0:00 到 1:10。</a:t>
            </a:r>
          </a:p>
          <a:p xmlns:a="http://schemas.openxmlformats.org/drawingml/2006/main">
            <a:r>
              <a:t>開場先說明今天不是要逐行念論文，而是回答三件事：packet classification 的痛點、DBTable 怎麼用 discriminative bitset 降低 lookup 成本、以及我們在 ClassBench ACL1 100K 上得到什麼結果。</a:t>
            </a:r>
          </a:p>
          <a:p xmlns:a="http://schemas.openxmlformats.org/drawingml/2006/main">
            <a:r>
              <a:t>提醒聽眾：接下來的術語 DBS 指 discriminative bitset，也就是用來把 ruleset 分桶的一組關鍵 IP bits。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1:10 到 2:10。</a:t>
            </a:r>
          </a:p>
          <a:p xmlns:a="http://schemas.openxmlformats.org/drawingml/2006/main">
            <a:r>
              <a:t>這頁給老師或同學路線圖，讓大家知道報告會如何推進。</a:t>
            </a:r>
          </a:p>
          <a:p xmlns:a="http://schemas.openxmlformats.org/drawingml/2006/main">
            <a:r>
              <a:t>前 5 分鐘鋪背景，中段約 9 分鐘講 DBTable 的核心流程，最後 6 分鐘講實作、數據、比較與結論。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2:10 到 3:35。</a:t>
            </a:r>
          </a:p>
          <a:p xmlns:a="http://schemas.openxmlformats.org/drawingml/2006/main">
            <a:r>
              <a:t>先用五元組說清楚 packet classification：來源 IP、目的 IP、來源 port、目的 port、protocol。</a:t>
            </a:r>
          </a:p>
          <a:p xmlns:a="http://schemas.openxmlformats.org/drawingml/2006/main">
            <a:r>
              <a:t>每一條 rule 都可能包含 prefix、range、mask 和 priority；查詢時不是找到任一條就好，而是要找到最高優先權的 matching rule。</a:t>
            </a:r>
          </a:p>
          <a:p xmlns:a="http://schemas.openxmlformats.org/drawingml/2006/main">
            <a:r>
              <a:t>所以如果直接線性掃描 ruleset，規則越大 lookup latency 就越不穩。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3:35 到 4:55。</a:t>
            </a:r>
          </a:p>
          <a:p xmlns:a="http://schemas.openxmlformats.org/drawingml/2006/main">
            <a:r>
              <a:t>這頁把論文動機轉成三個工程目標。</a:t>
            </a:r>
          </a:p>
          <a:p xmlns:a="http://schemas.openxmlformats.org/drawingml/2006/main">
            <a:r>
              <a:t>純 hash 全空間 lookup 快但記憶體不可行；純壓縮或樹狀結構可能省記憶體，但 lookup 或 update 會付出成本。</a:t>
            </a:r>
          </a:p>
          <a:p xmlns:a="http://schemas.openxmlformats.org/drawingml/2006/main">
            <a:r>
              <a:t>DBTable 的切入點是利用 ruleset 本身的可分辨特徵，建立一個簡單、可更新的 index。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4:55 到 6:25。</a:t>
            </a:r>
          </a:p>
          <a:p xmlns:a="http://schemas.openxmlformats.org/drawingml/2006/main">
            <a:r>
              <a:t>可以用圖書館索引比喻：不用每次找書都掃完整個書庫，而是先靠幾個關鍵索引欄位跳到小區域。</a:t>
            </a:r>
          </a:p>
          <a:p xmlns:a="http://schemas.openxmlformats.org/drawingml/2006/main">
            <a:r>
              <a:t>DBS 的角色就是這些索引欄位。封包來時取同樣的 bit 形成 key，直接定位到 bucket。</a:t>
            </a:r>
          </a:p>
          <a:p xmlns:a="http://schemas.openxmlformats.org/drawingml/2006/main">
            <a:r>
              <a:t>進 bucket 後仍然做 exact five-tuple match，所以它不是近似模型，不會因為模型預測錯而答錯。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6:25 到 8:00。</a:t>
            </a:r>
          </a:p>
          <a:p xmlns:a="http://schemas.openxmlformats.org/drawingml/2006/main">
            <a:r>
              <a:t>論文用 separability metric 來評估 bit：如果某個 bit 在 rules 中 0 和 1 分布接近，而且 wildcard 比例低，這個 bit 就適合拿來分桶。</a:t>
            </a:r>
          </a:p>
          <a:p xmlns:a="http://schemas.openxmlformats.org/drawingml/2006/main">
            <a:r>
              <a:t>簡報不用推完整公式，只要說明兩個判斷：第一，切出來的左右兩邊要平均；第二，被 wildcard 影響而需要特殊處理的規則要少。</a:t>
            </a:r>
          </a:p>
          <a:p xmlns:a="http://schemas.openxmlformats.org/drawingml/2006/main">
            <a:r>
              <a:t>這樣選出的 DBS 可以用較少 bits 達到有效 partition。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8:00 到 9:35。</a:t>
            </a:r>
          </a:p>
          <a:p xmlns:a="http://schemas.openxmlformats.org/drawingml/2006/main">
            <a:r>
              <a:t>這頁講建構階段。先解析 rules，再根據 ruleset 選出 DBS，接著把每條 rule 映射到對應 bucket。</a:t>
            </a:r>
          </a:p>
          <a:p xmlns:a="http://schemas.openxmlformats.org/drawingml/2006/main">
            <a:r>
              <a:t>如果 rule 在某些 selected bits 上是 wildcard，就可能需要出現在多個 bucket；實作上要控制 replication 或使用 fallback/輔助結構。</a:t>
            </a:r>
          </a:p>
          <a:p xmlns:a="http://schemas.openxmlformats.org/drawingml/2006/main">
            <a:r>
              <a:t>每個 bucket 裡面仍按 priority 排序，查詢時可以提早停止。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9:35 到 11:00。</a:t>
            </a:r>
          </a:p>
          <a:p xmlns:a="http://schemas.openxmlformats.org/drawingml/2006/main">
            <a:r>
              <a:t>查詢時從 packet 的 SIP/DIP 抽出 selected bits，形成 bucket key。</a:t>
            </a:r>
          </a:p>
          <a:p xmlns:a="http://schemas.openxmlformats.org/drawingml/2006/main">
            <a:r>
              <a:t>這個 key 讓 lookup 不必碰整個 ruleset，只檢查 bucket 中的候選規則。</a:t>
            </a:r>
          </a:p>
          <a:p xmlns:a="http://schemas.openxmlformats.org/drawingml/2006/main">
            <a:r>
              <a:t>最後仍檢查 IP prefix、port range、protocol mask，確保回傳的是正確且最高優先權的 rule。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11:00 到 12:15。</a:t>
            </a:r>
          </a:p>
          <a:p xmlns:a="http://schemas.openxmlformats.org/drawingml/2006/main">
            <a:r>
              <a:t>理想狀況 bucket 都小，但真實 ruleset 可能偏斜，某些 bucket 會累積很多 rules。</a:t>
            </a:r>
          </a:p>
          <a:p xmlns:a="http://schemas.openxmlformats.org/drawingml/2006/main">
            <a:r>
              <a:t>論文的做法是 skewness-aware hybrid：對過大的 bucket 加上輔助 TSS 結構，改善 worst-case lookup。</a:t>
            </a:r>
          </a:p>
          <a:p xmlns:a="http://schemas.openxmlformats.org/drawingml/2006/main">
            <a:r>
              <a:t>我們的專案重點是重現與 benchmark AMPS/TA 的 DBTable.cpp，因此這頁只要講清楚為什麼需要 hybrid，不必展開所有內部細節。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12:15 到 13:40。</a:t>
            </a:r>
          </a:p>
          <a:p xmlns:a="http://schemas.openxmlformats.org/drawingml/2006/main">
            <a:r>
              <a:t>這頁交代交付內容與程式架構。</a:t>
            </a:r>
          </a:p>
          <a:p xmlns:a="http://schemas.openxmlformats.org/drawingml/2006/main">
            <a:r>
              <a:t>src/dbtable_classifier.py 是教學用、可讀性高的 DBTable-inspired 版本；它選 12 個 discriminative IP bits，建立 4096 buckets。</a:t>
            </a:r>
          </a:p>
          <a:p xmlns:a="http://schemas.openxmlformats.org/drawingml/2006/main">
            <a:r>
              <a:t>最後實驗數據採用 ta_reference/amps_dbtable/DBTable.cpp 搭配 cpp/benchmark_ta_dbtable.cpp，這比較接近論文實作的效能。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13:40 到 15:00。</a:t>
            </a:r>
          </a:p>
          <a:p xmlns:a="http://schemas.openxmlformats.org/drawingml/2006/main">
            <a:r>
              <a:t>資料集是 ClassBench ACL1，成功解析 99,330 條規則，trace 測 100,000 個 packets。</a:t>
            </a:r>
          </a:p>
          <a:p xmlns:a="http://schemas.openxmlformats.org/drawingml/2006/main">
            <a:r>
              <a:t>C++ benchmark 重複 5 次，DBTable threshold 設為 4。</a:t>
            </a:r>
          </a:p>
          <a:p xmlns:a="http://schemas.openxmlformats.org/drawingml/2006/main">
            <a:r>
              <a:t>這頁要強調數據不是手填，而是由 scripts/run_ta_dbtable_experiment.py 編譯並執行 C++ harness 產生 JSON/CSV。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15:00 到 16:35。</a:t>
            </a:r>
          </a:p>
          <a:p xmlns:a="http://schemas.openxmlformats.org/drawingml/2006/main">
            <a:r>
              <a:t>先講最重要的 lookup：平均約 59.902 ns，最快 run 的平均 lookup 是 52.75 ns。</a:t>
            </a:r>
          </a:p>
          <a:p xmlns:a="http://schemas.openxmlformats.org/drawingml/2006/main">
            <a:r>
              <a:t>build time 平均 0.3777 秒，estimated memory 約 4.017 MiB。</a:t>
            </a:r>
          </a:p>
          <a:p xmlns:a="http://schemas.openxmlformats.org/drawingml/2006/main">
            <a:r>
              <a:t>這裡也可以提醒：Python 教學版 lookup 約 9.78 微秒，主要用於驗證想法；正式效能數字用 C++ 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16:35 到 18:00。</a:t>
            </a:r>
          </a:p>
          <a:p xmlns:a="http://schemas.openxmlformats.org/drawingml/2006/main">
            <a:r>
              <a:t>表格中的 HybridTSS 和 CutSplit 是專案報告使用的對照數據。</a:t>
            </a:r>
          </a:p>
          <a:p xmlns:a="http://schemas.openxmlformats.org/drawingml/2006/main">
            <a:r>
              <a:t>DBTable lookup 最快且 memory 最低；HybridTSS build 最快但 memory 高很多；CutSplit build 比 DBTable 短但 lookup 較慢。</a:t>
            </a:r>
          </a:p>
          <a:p xmlns:a="http://schemas.openxmlformats.org/drawingml/2006/main">
            <a:r>
              <a:t>這頁結論要收斂成一句話：DBTable 適合對 lookup latency 很敏感，同時又不能接受巨大記憶體成本的情境。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18:00 到 19:05。</a:t>
            </a:r>
          </a:p>
          <a:p xmlns:a="http://schemas.openxmlformats.org/drawingml/2006/main">
            <a:r>
              <a:t>這頁是給自己報告時用的提示。</a:t>
            </a:r>
          </a:p>
          <a:p xmlns:a="http://schemas.openxmlformats.org/drawingml/2006/main">
            <a:r>
              <a:t>如果現場時間不夠，優先講三句：第一，DBTable 解決大量 rules lookup 的成本；第二，DBS 把 rules 分成小 buckets；第三，bucket 內仍做 exact match，所以正確性靠傳統比對保住。</a:t>
            </a:r>
          </a:p>
          <a:p xmlns:a="http://schemas.openxmlformats.org/drawingml/2006/main">
            <a:r>
              <a:t>如果被問到更新，回答 DBTable 的索引簡單，rule 更新大多只影響對應 bucket；當 ruleset 分布變化太大時，論文用 dynamic reconfiguration 重新抽 DBS。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 19:05 到 20:00。</a:t>
            </a:r>
          </a:p>
          <a:p xmlns:a="http://schemas.openxmlformats.org/drawingml/2006/main">
            <a:r>
              <a:t>最後收三點：DBS 是核心，hash bucket 是加速手段，exact match 保證正確性。</a:t>
            </a:r>
          </a:p>
          <a:p xmlns:a="http://schemas.openxmlformats.org/drawingml/2006/main">
            <a:r>
              <a:t>本專案用 ClassBench ACL1 100K 和 AMPS/TA C++ 版本驗證，得到 59.902 ns 平均 lookup、0.3777 秒 build、4.017 MiB memory。</a:t>
            </a:r>
          </a:p>
          <a:p xmlns:a="http://schemas.openxmlformats.org/drawingml/2006/main">
            <a:r>
              <a:t>結尾可以說：我的理解是 DBTable 不只是把規則丟進 hash table，而是先用 ruleset 的 discriminative structure 找到適合 hash 的低維特徵。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這頁是附錄，不一定要報。</a:t>
            </a:r>
          </a:p>
          <a:p xmlns:a="http://schemas.openxmlformats.org/drawingml/2006/main">
            <a:r>
              <a:t>如果老師問資料來源，可以指向論文、專案 README、results JSON/CSV，以及 benchmark harness。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5dcac04334c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af1dc2fe4c49b0" /><Relationship Type="http://schemas.openxmlformats.org/officeDocument/2006/relationships/slideLayout" Target="/ppt/slideLayouts/slideLayout1.xml" Id="R2eedc09153ef47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edc09153ef47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DBTabl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F8EA6"/>
      </a:accent1>
      <a:accent2>
        <a:srgbClr val="2E7D59"/>
      </a:accent2>
      <a:accent3>
        <a:srgbClr val="D99A25"/>
      </a:accent3>
      <a:accent4>
        <a:srgbClr val="B5443C"/>
      </a:accent4>
      <a:accent5>
        <a:srgbClr val="5A667A"/>
      </a:accent5>
      <a:accent6>
        <a:srgbClr val="D7DFEA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BTab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2d6772b4543f0" /><Relationship Type="http://schemas.openxmlformats.org/officeDocument/2006/relationships/notesSlide" Target="/ppt/notesSlides/notesSlide1.xml" Id="R8bbb713c9bb049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07f9826a04c5d" /><Relationship Type="http://schemas.openxmlformats.org/officeDocument/2006/relationships/notesSlide" Target="/ppt/notesSlides/notesSlide2.xml" Id="Rb9028d4b9a474c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c2cf46c3c4dd9" /><Relationship Type="http://schemas.openxmlformats.org/officeDocument/2006/relationships/notesSlide" Target="/ppt/notesSlides/notesSlide3.xml" Id="R06910dab87ec43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2396cba88417f" /><Relationship Type="http://schemas.openxmlformats.org/officeDocument/2006/relationships/notesSlide" Target="/ppt/notesSlides/notesSlide4.xml" Id="R4234dab9faf642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45107bff24350" /><Relationship Type="http://schemas.openxmlformats.org/officeDocument/2006/relationships/notesSlide" Target="/ppt/notesSlides/notesSlide5.xml" Id="Ra36650ce2eb046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b53caf3544d5c" /><Relationship Type="http://schemas.openxmlformats.org/officeDocument/2006/relationships/notesSlide" Target="/ppt/notesSlides/notesSlide6.xml" Id="Rd2c5552dd74c4d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d8baf0d674fc8" /><Relationship Type="http://schemas.openxmlformats.org/officeDocument/2006/relationships/notesSlide" Target="/ppt/notesSlides/notesSlide7.xml" Id="Rc406b848559a4e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906b46cf24779" /><Relationship Type="http://schemas.openxmlformats.org/officeDocument/2006/relationships/notesSlide" Target="/ppt/notesSlides/notesSlide8.xml" Id="Rf864107618db4d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38cfd9e4340ba" /><Relationship Type="http://schemas.openxmlformats.org/officeDocument/2006/relationships/notesSlide" Target="/ppt/notesSlides/notesSlide9.xml" Id="Rb23ca024281f47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d64ccdd9743e8" /><Relationship Type="http://schemas.openxmlformats.org/officeDocument/2006/relationships/notesSlide" Target="/ppt/notesSlides/notesSlide10.xml" Id="R3223937a98ae41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93864d1b345c7" /><Relationship Type="http://schemas.openxmlformats.org/officeDocument/2006/relationships/notesSlide" Target="/ppt/notesSlides/notesSlide11.xml" Id="R9fc161feb75841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591d433b84b9f" /><Relationship Type="http://schemas.openxmlformats.org/officeDocument/2006/relationships/chart" Target="/ppt/slides/charts/chart1.xml" Id="Rd782b9c66d5f443d" /><Relationship Type="http://schemas.openxmlformats.org/officeDocument/2006/relationships/notesSlide" Target="/ppt/notesSlides/notesSlide12.xml" Id="R191cf67bdd7245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a1f0063dd45b7" /><Relationship Type="http://schemas.openxmlformats.org/officeDocument/2006/relationships/chart" Target="/ppt/slides/charts/chart2.xml" Id="R81220f4fd8b34ed0" /><Relationship Type="http://schemas.openxmlformats.org/officeDocument/2006/relationships/chart" Target="/ppt/slides/charts/chart3.xml" Id="Re5e87826fe5142d9" /><Relationship Type="http://schemas.openxmlformats.org/officeDocument/2006/relationships/chart" Target="/ppt/slides/charts/chart4.xml" Id="R59a31fc6b0d94616" /><Relationship Type="http://schemas.openxmlformats.org/officeDocument/2006/relationships/notesSlide" Target="/ppt/notesSlides/notesSlide13.xml" Id="Rb365cdcba80144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01324773d4bde" /><Relationship Type="http://schemas.openxmlformats.org/officeDocument/2006/relationships/notesSlide" Target="/ppt/notesSlides/notesSlide14.xml" Id="Rd6285c906f3b4c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524929d2e4a52" /><Relationship Type="http://schemas.openxmlformats.org/officeDocument/2006/relationships/notesSlide" Target="/ppt/notesSlides/notesSlide15.xml" Id="Rc26ad1e93e824b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2fcef2e494b0a" /><Relationship Type="http://schemas.openxmlformats.org/officeDocument/2006/relationships/notesSlide" Target="/ppt/notesSlides/notesSlide16.xml" Id="R9390bdefad3d48ab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AMPS/TA DBTable</c:v>
          </c:tx>
          <c:spPr>
            <a:solidFill xmlns:a="http://schemas.openxmlformats.org/drawingml/2006/main">
              <a:srgbClr val="1F8E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build s</c:v>
              </c:pt>
              <c:pt idx="1">
                <c:v>lookup ns / 100</c:v>
              </c:pt>
              <c:pt idx="2">
                <c:v>memory MiB</c:v>
              </c:pt>
            </c:strLit>
          </c:cat>
          <c:val>
            <c:numLit>
              <c:formatCode>General</c:formatCode>
              <c:ptCount val="3"/>
              <c:pt idx="0">
                <c:v>0.3776726</c:v>
              </c:pt>
              <c:pt idx="1">
                <c:v>0.59902</c:v>
              </c:pt>
              <c:pt idx="2">
                <c:v>4.016534805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F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667A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Build time (s)</c:v>
          </c:tx>
          <c:spPr>
            <a:solidFill xmlns:a="http://schemas.openxmlformats.org/drawingml/2006/main">
              <a:srgbClr val="2E7D59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DBTable</c:v>
              </c:pt>
              <c:pt idx="1">
                <c:v>HybridTSS</c:v>
              </c:pt>
              <c:pt idx="2">
                <c:v>CutSplit</c:v>
              </c:pt>
            </c:strLit>
          </c:cat>
          <c:val>
            <c:numLit>
              <c:formatCode>General</c:formatCode>
              <c:ptCount val="3"/>
              <c:pt idx="0">
                <c:v>0.3776726</c:v>
              </c:pt>
              <c:pt idx="1">
                <c:v>0.0249</c:v>
              </c:pt>
              <c:pt idx="2">
                <c:v>0.424338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F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A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Avg lookup (ns)</c:v>
          </c:tx>
          <c:spPr>
            <a:solidFill xmlns:a="http://schemas.openxmlformats.org/drawingml/2006/main">
              <a:srgbClr val="1F8EA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DBTable</c:v>
              </c:pt>
              <c:pt idx="1">
                <c:v>HybridTSS</c:v>
              </c:pt>
              <c:pt idx="2">
                <c:v>CutSplit</c:v>
              </c:pt>
            </c:strLit>
          </c:cat>
          <c:val>
            <c:numLit>
              <c:formatCode>General</c:formatCode>
              <c:ptCount val="3"/>
              <c:pt idx="0">
                <c:v>59.902</c:v>
              </c:pt>
              <c:pt idx="1">
                <c:v>133.987</c:v>
              </c:pt>
              <c:pt idx="2">
                <c:v>285.687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F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A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Memory footprint (MiB)</c:v>
          </c:tx>
          <c:spPr>
            <a:solidFill xmlns:a="http://schemas.openxmlformats.org/drawingml/2006/main">
              <a:srgbClr val="D99A2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DBTable</c:v>
              </c:pt>
              <c:pt idx="1">
                <c:v>HybridTSS</c:v>
              </c:pt>
              <c:pt idx="2">
                <c:v>CutSplit</c:v>
              </c:pt>
            </c:strLit>
          </c:cat>
          <c:val>
            <c:numLit>
              <c:formatCode>General</c:formatCode>
              <c:ptCount val="3"/>
              <c:pt idx="0">
                <c:v>4.016534805</c:v>
              </c:pt>
              <c:pt idx="1">
                <c:v>709.45</c:v>
              </c:pt>
              <c:pt idx="2">
                <c:v>537.38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F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667A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5681AC-EBED-4D24-8127-F4A17FA9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8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2C0FE-FE3C-4FEF-A40E-C8F12EE2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02D0E-AC27-471F-8C9D-FDE0F227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CE7E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BCE7EF"/>
                </a:solidFill>
                <a:latin typeface="Microsoft JhengHei"/>
                <a:ea typeface="Microsoft JhengHei"/>
                <a:cs typeface="Microsoft JhengHei"/>
              </a:rPr>
              <a:t>PACKET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F8DF2-EC13-40B9-B7C8-4470236B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647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DBTable 演算法介紹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583DC-D24C-40A6-A018-D2D97D45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7E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8E7EF"/>
                </a:solidFill>
                <a:latin typeface="Microsoft JhengHei"/>
                <a:ea typeface="Microsoft JhengHei"/>
                <a:cs typeface="Microsoft JhengHei"/>
              </a:rPr>
              <a:t>Leveraging Discriminative Bitsets for High-Performance Packet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EBFE2-4049-444B-81B3-A75B883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224B4-0AAE-42B4-876A-00A3267E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99,330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E2609-AF4C-459A-9345-E161676A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ClassBench ACL1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B2D5C-0ADB-41B5-B797-880D020B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7680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31FF1-76CB-4B44-84F7-880A877B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673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59.9 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6436C-0FF4-4685-9FF2-1290C27E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62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C++ avg lookup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E474A-145A-4FB8-A899-A5759B7B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E8D82-C3F9-48E5-97CF-9467A5F8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673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4.02 MiB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A3F61-CFD6-4553-AC5E-C74CE091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62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estimated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8E2D6-579B-4532-9D47-FCCD6AD3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81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B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8CBD8"/>
                </a:solidFill>
                <a:latin typeface="Microsoft JhengHei"/>
                <a:ea typeface="Microsoft JhengHei"/>
                <a:cs typeface="Microsoft JhengHei"/>
              </a:rPr>
              <a:t>20 分鐘可報告版本 | editable PPTX with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100444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8AC35-DD60-464C-A12A-1B88CD9C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TALK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01B89-D3E0-484B-AC6F-4C34ACCD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0321D-D707-46B0-895A-4B46CD1D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20 分鐘報告節奏：先建立問題，再拆演算法，最後用實驗收束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AC478-A254-4878-9E40-0E07425F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02/16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465C8-DD0D-4DC2-95F3-C0C4D783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8F6F8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DBE52-1129-47B9-9106-0DF7E001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D4F6C-95D0-48AB-94F5-2F96CC6F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0-5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53DF7-7C23-4AF5-8E93-75A05D55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問題背景：五元組、priority、為何線性掃描太慢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9578C-43F8-4ABC-A2CA-51A1976F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002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180A7-3832-49E3-9FC9-8F98B684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145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34690-B468-4DC9-AA1E-50F500FD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1526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5-12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1025B-C35B-4FB7-9288-96FB7D1F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146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DBS、建表、lookup，以及 skewness-aware hybrid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1F8A0-8FA7-4513-A96B-644BDC72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9514F-69BF-4E81-A632-AE1F9A30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D6632-2472-41B8-83CD-64AEBF46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526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12-18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254E9-27E3-4A3D-BE64-15E0BB86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專案實作、ClassBench 設定、效能數據與比較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E4C22-D7E4-433F-AB5C-0B1CAB44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002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CB4B2-9B00-48DD-82E1-A07347CD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145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FB2AB-53E7-4A2F-8AC0-CC3A6071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1526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18-20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CABE0-579F-4BEF-9CC2-05791896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146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收斂主線、回答可能問題、總結貢獻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B5B2F-1F6B-4E8F-A0C7-CD5BA7EC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報告口訣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AAB04-10ED-42BC-A40D-0AFB5D4A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981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• 先說「為什麼需要分類」，再說「DBTable 如何少看規則」。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• 演算法頁只保留一個主軸：DBS 產生 key，key 找 bucket，bucket 內 exact match。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• 實驗頁先講 lookup，再補 build 與 memory，避免聽眾迷路。</a:t>
            </a:r>
          </a:p>
        </p:txBody>
      </p:sp>
    </p:spTree>
    <p:extLst>
      <p:ext uri="{BB962C8B-B14F-4D97-AF65-F5344CB8AC3E}">
        <p14:creationId xmlns:p14="http://schemas.microsoft.com/office/powerpoint/2010/main" val="1211982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58FE3-6872-49FB-BF42-8A30656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F41D5-553B-4A22-B042-585727D6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60175-9302-4AD0-A104-9D5E29BB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Packet classification 的本質：在大量規則中找最高優先權匹配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BE066-2D64-4966-B64D-468C7D14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03/16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A0C62-477F-4DCE-9398-9257F177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95275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CE241-6414-4A10-BE90-B9628F2E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715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CA460-96A1-4A97-8ACB-32BDF2B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Packet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662A9-2668-4270-B521-66AFA5B2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2533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SIP / DIP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Source port / Destination port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98B50-67A3-4B3E-BBF5-25660DBB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295275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5C2B8-E671-4002-8758-AFD5154F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5715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25"/>
          </a:solidFill>
          <a:ln xmlns:a="http://schemas.openxmlformats.org/drawingml/2006/main" w="0">
            <a:solidFill>
              <a:srgbClr val="D99A2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63E9D-FE10-42B9-A669-5C239C55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812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D1466-E7BE-492D-9F94-00AF71A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62200"/>
            <a:ext cx="2533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IP prefix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Port range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Protocol mask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Priority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4C60C-2F7B-4178-BBA3-7D240C11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38125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6C359-7AB9-4039-941A-6F6DEAF5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5715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9"/>
          </a:solidFill>
          <a:ln xmlns:a="http://schemas.openxmlformats.org/drawingml/2006/main" w="0">
            <a:solidFill>
              <a:srgbClr val="2E7D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BAF12-25CB-4D09-A18E-470E850A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AA615-6C40-4B4F-88CE-C6424837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所有匹配規則中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priority 最高者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82F70-81E5-4AF7-8AF5-F9448911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628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A"/>
          </a:solidFill>
          <a:ln xmlns:a="http://schemas.openxmlformats.org/drawingml/2006/main" w="0">
            <a:solidFill>
              <a:srgbClr val="D7DF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5848E-2176-46C4-868A-6DE7D44E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28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A"/>
          </a:solidFill>
          <a:ln xmlns:a="http://schemas.openxmlformats.org/drawingml/2006/main" w="0">
            <a:solidFill>
              <a:srgbClr val="D7DF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C2300-AF0F-4DEB-BB1F-DD73EEAF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困難點：ruleset 越大，候選規則越多；同時 SDN 場景還要求快速更新。</a:t>
            </a:r>
          </a:p>
        </p:txBody>
      </p:sp>
    </p:spTree>
    <p:extLst>
      <p:ext uri="{BB962C8B-B14F-4D97-AF65-F5344CB8AC3E}">
        <p14:creationId xmlns:p14="http://schemas.microsoft.com/office/powerpoint/2010/main" val="12899731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8E322B-75E3-4A40-913A-C1371FBD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DESIGN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D1D35-CC65-4B41-92F5-F58F1DB2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683C0-DFC8-45F9-ACA3-B47F2DE4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DBTable 想同時做到：查得快、更新快、記憶體不要爆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B8DDD-EBD5-4ED3-B888-793FE4A5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04/16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66B73-D585-4F27-BC15-F5BCBE31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3238500" cy="196215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E8F6F8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EDE85-B620-4392-82FE-E0F1812E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57150" cy="1962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F0815-2652-4ECB-8FD3-45D01C50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28825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Fast 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2B084-09FD-49BB-9BB2-1292FA38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9825"/>
            <a:ext cx="2819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封包進來後要少碰記憶體、少掃規則，避免線速處理被 lookup latency 卡住。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CC951-8395-4589-8203-8E6F960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57375"/>
            <a:ext cx="3238500" cy="196215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1EE46-0914-4AD2-9768-0B6ECCE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57375"/>
            <a:ext cx="57150" cy="1962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9"/>
          </a:solidFill>
          <a:ln xmlns:a="http://schemas.openxmlformats.org/drawingml/2006/main" w="0">
            <a:solidFill>
              <a:srgbClr val="2E7D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B953B-8D0D-480F-96CB-3ED1EF80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28825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Fast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2AD3C-BEF3-47ED-9BE0-3118CFAF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9825"/>
            <a:ext cx="2819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規則新增或刪除時，不希望整棵大結構重建；索引要能局部調整。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E59D2-5634-4CCB-A0E0-EECE98F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57375"/>
            <a:ext cx="3238500" cy="196215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CE2AB-B393-43B4-88C0-3A15CBD6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57375"/>
            <a:ext cx="57150" cy="1962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25"/>
          </a:solidFill>
          <a:ln xmlns:a="http://schemas.openxmlformats.org/drawingml/2006/main" w="0">
            <a:solidFill>
              <a:srgbClr val="D99A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FAC43-9EC5-42DE-B66F-236754BC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28825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Moderate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0705A-2552-456B-B203-ED2918C5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9825"/>
            <a:ext cx="2819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不能為了 O(1) lookup 把整個搜尋空間展開，否則記憶體成本會失控。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D4A9D-A3E1-4282-921F-59FA3DDE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DBTable 的定位：結合 learned-index 的「特徵抽取」想法與傳統 hash/table 的可解釋、可更新結構。</a:t>
            </a:r>
          </a:p>
        </p:txBody>
      </p:sp>
    </p:spTree>
    <p:extLst>
      <p:ext uri="{BB962C8B-B14F-4D97-AF65-F5344CB8AC3E}">
        <p14:creationId xmlns:p14="http://schemas.microsoft.com/office/powerpoint/2010/main" val="935580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B7D4CD-363B-4F67-894D-91AEA89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CORE INTUITION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BA689-E45E-4349-86EC-0495A286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5BBDB-E332-4471-99FC-86F27801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直覺版：挑幾個最能分流的 IP bits，把大 ruleset 切成小 bucket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774C1-1B41-47BF-AD8A-1B50DE14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05/16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CB741-C88B-4146-B9F0-2074E795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CE14F-B1B0-43C4-90E7-4FE2BD42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77066-8493-4CEE-9541-475F05D2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大 ruleset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98C06-2460-4453-BE3D-3395BA39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直接掃描接近 O(n)，規則越多越慢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48659-BF45-4E7D-BCA4-980CC6A8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4310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8F6F8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819D9-E71A-4D38-A151-491A8E6F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574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5DDFB-CBF8-465A-A8DE-6AA2AB86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95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挑 DBS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7A759-B9B9-4201-81BF-ECB3EA69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5745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找出最能把 rules 分開的 SIP/DIP bits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843C8-B992-4635-AFD6-93CC2DBA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A10AF-AE59-4E61-AC42-5B3F97AD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8F6E7-8D0A-41EC-A93D-D65D3512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 bucket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BBC50-12A9-454D-B43F-90F253AD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用 selected bits 形成 hash 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BC4F4-3DA6-43B7-A891-582107DC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4310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99E99-C160-4F2D-9686-737693C5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574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B1BBF-4DC7-4B9A-BED4-B2C59A1C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精確比對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F896B-7571-4A77-B02F-89A23D02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5745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只在候選 bucket 內檢查五元組與 priority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AE0CF-7C18-4216-BF66-9400FDF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2286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3A421-EAD6-4A17-AF35-327922D5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7200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4,096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64C23-536D-48A2-BDFC-96D81C1A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673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Python 教學版 buckets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605C6-0B0F-45D1-8635-FA0FCEC5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286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E06EC-F527-4B63-914C-0A46EA9D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7200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D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E7D59"/>
                </a:solidFill>
                <a:latin typeface="Microsoft JhengHei"/>
                <a:ea typeface="Microsoft JhengHei"/>
                <a:cs typeface="Microsoft JhengHei"/>
              </a:rPr>
              <a:t>169.3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37127-4456-48DA-BB06-4B6F49FC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673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avg bucket size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6EBBE-02DD-4512-B8B9-414B27EA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2286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714B1-A1AD-444A-84A0-0D832EC2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9A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9A25"/>
                </a:solidFill>
                <a:latin typeface="Microsoft JhengHei"/>
                <a:ea typeface="Microsoft JhengHei"/>
                <a:cs typeface="Microsoft JhengHei"/>
              </a:rPr>
              <a:t>189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7655B5-7697-4BFE-B474-3C6760F0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673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max bucket size</a:t>
            </a:r>
          </a:p>
        </p:txBody>
      </p:sp>
    </p:spTree>
    <p:extLst>
      <p:ext uri="{BB962C8B-B14F-4D97-AF65-F5344CB8AC3E}">
        <p14:creationId xmlns:p14="http://schemas.microsoft.com/office/powerpoint/2010/main" val="5880477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0695ED-22AC-4E71-A62F-0C448457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DBS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E2F2A-3D14-46E5-8E22-5116C17D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207B0-13B1-4C4F-A627-584664A7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DBS 不是任意選 bit：要讓 0/1 平衡、wildcard 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3970E-B159-491D-90E2-1F5A818D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06/16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CE849-05A8-47DA-8100-17834680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8F6F8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C6236-30BE-405B-B26D-B8250962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715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6E880-E7D9-49B4-BD26-D73854D0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好的 bit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D2E27-AB5F-4FA0-9EF1-0F820858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0 和 1 的比例接近，表示切完後兩邊規則數比較平均。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329B3-F7CA-4596-BEA0-1FDCB430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2C2FF-9A35-4E3F-A989-453B73B2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5715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443C"/>
          </a:solidFill>
          <a:ln xmlns:a="http://schemas.openxmlformats.org/drawingml/2006/main" w="0">
            <a:solidFill>
              <a:srgbClr val="B544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66192-6C9D-423B-A49A-D16F0696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不好的 bit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1CB58-08F5-4CB8-A4C4-DE1E6DA6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6220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wildcard 比例高，規則會落入多個分支，增加 replication 或 fallback 成本。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C6BCE-4293-466F-A744-E6B1B9F2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14325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7E9A6-1A3F-4DDC-857A-5469BC73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57150" cy="1695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9"/>
          </a:solidFill>
          <a:ln xmlns:a="http://schemas.openxmlformats.org/drawingml/2006/main" w="0">
            <a:solidFill>
              <a:srgbClr val="2E7D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2E68F-FF0E-4258-8D76-771A1321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停止條件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AA2E6-830D-476F-A74E-EBFDE8A3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當大多數 subset 已小於 binth，就停止繼續抽 bit，避免記憶體指數成長。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61367-4E63-48D9-95CB-0BF85AD8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10058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論文核心 metric：同時懲罰 0/1 不平衡與 wildcard；因此 DBS 是資料驅動產生，不是人工指定。</a:t>
            </a:r>
          </a:p>
        </p:txBody>
      </p:sp>
    </p:spTree>
    <p:extLst>
      <p:ext uri="{BB962C8B-B14F-4D97-AF65-F5344CB8AC3E}">
        <p14:creationId xmlns:p14="http://schemas.microsoft.com/office/powerpoint/2010/main" val="649449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DF4698-BDBC-4A2E-9D58-066FC91E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BUILD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2EDB1-1C5B-4471-BFA0-941C3FF7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50232-30AF-44D4-8280-D6623A39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建表流程：選 DBS，依 key 建 bucket，保留 exact match 與 priority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00361-EDC2-4A76-8489-9D23F1D0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07/16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10D08-C6C0-4B91-A096-9329EC90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D249F-E279-426B-AB44-28289E8E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0C934-1845-4257-BB7E-4CC9278F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Parse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56E32-5C29-4133-B521-7021194F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讀入 prefix、range、mask、priority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87F9F-EE49-40E3-AFD7-63D9BA9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478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8F6F8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6C4D9-8508-446A-8B7C-07A1C151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95BFD-71AC-49C9-A233-1CDE4104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002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Extract DBS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85624-716D-4EC0-B8F9-73CD9D08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622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逐步選出可分辨 bits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0D666-7B33-474E-93A8-A07DE510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8B81D-0FF4-4D68-B442-3C766AB6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F4228-540F-4F57-91E1-664BAB72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Map to buckets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2D136-1B44-4001-BF21-AAF505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依 selected bits 產生 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AED39-4640-4C6D-AFFE-2A323AD9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478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6E168-3376-4EB0-861D-507E4254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0CB82-237C-4C21-85E5-D48231E4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002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Sort candidates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1B60C-1AFB-42E3-8091-8C2C69FB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622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bucket 內按 priority 保持可提早停止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B6F55-A4E3-42DF-AA9D-B3569FA2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1013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建表的 tradeoff：選越多 bits，bucket 通常越小；但 wildcard replication 與記憶體成本也可能增加。</a:t>
            </a:r>
          </a:p>
        </p:txBody>
      </p:sp>
    </p:spTree>
    <p:extLst>
      <p:ext uri="{BB962C8B-B14F-4D97-AF65-F5344CB8AC3E}">
        <p14:creationId xmlns:p14="http://schemas.microsoft.com/office/powerpoint/2010/main" val="7729334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6FDEB-947B-4717-A10E-A71B39B8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LOOKUP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9B89C-74A8-478A-AA42-56AE473B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2120B-1E08-4E83-A1A9-3609184F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查詢流程：packet key 只打開一個 bucket，再做精確比對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FF52D-85BB-4BD8-8EED-A86D7BAA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08/16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FCD66-E305-4333-BFBA-0D9B9589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8F6F8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5DD0C-552A-402C-A341-55F85019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DA398-6952-43DB-BFFB-05FC3EC6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Packet bits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D9D18-4D79-4554-B935-F90E6F80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從 SIP/DIP 取出 DBS 指定的位置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5ECF1-4B72-4020-8B5A-085DA059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478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91F35-DA21-45B5-A99F-1C95B363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A0811-7067-4EF2-8387-1DF5DF65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002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Bucket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58221-6B3B-4A11-9B85-7E27C054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622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組成 hash key，定位候選集合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484FB-875A-436F-AB49-6EC7A742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2568B-2C2D-40EE-8A28-2154EFC5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DA3B3-332D-48BE-BBFD-130024E2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Exact 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F1A59-C2A8-4644-8AE2-A8C14679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檢查 prefix、port range、protocol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176D8-4FCA-414D-B36F-D7113237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47850"/>
            <a:ext cx="25622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DACD6-750C-4D1B-B905-8EC5EEA9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B76F8-FAAA-4F18-B57D-F6B29D9C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002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Priority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CBB8D-4C05-463B-8A10-78968752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62200"/>
            <a:ext cx="2219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回傳最高優先權 matching 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D23A4-1898-4E4B-8655-DF928546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895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CAB73-6B54-49F8-9F27-897E73C4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571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9"/>
          </a:solidFill>
          <a:ln xmlns:a="http://schemas.openxmlformats.org/drawingml/2006/main" w="0">
            <a:solidFill>
              <a:srgbClr val="2E7D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62591-C846-4FF8-99AD-E4EFE051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57700"/>
            <a:ext cx="853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正確性重點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4FD62-D714-46FD-9D4B-8903D7B4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853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DBTable 用 DBS 做 candidate reduction，但最後答案仍由 exact five-tuple matching 決定。</a:t>
            </a:r>
          </a:p>
        </p:txBody>
      </p:sp>
    </p:spTree>
    <p:extLst>
      <p:ext uri="{BB962C8B-B14F-4D97-AF65-F5344CB8AC3E}">
        <p14:creationId xmlns:p14="http://schemas.microsoft.com/office/powerpoint/2010/main" val="19539860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BB59D-AD4F-462D-8BF5-56BED390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WORST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793A6-DEFA-4F2A-B4E2-AABE35A5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88309-431F-4B84-AD73-A43DA4A1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資料偏斜會讓少數 bucket 變大，所以論文加入 hybrid 結構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BFD74-B7DF-4FA1-BE93-464025AB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09/16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21D1A-F73A-4CA9-BC0D-E188361D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2952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91A36-C703-4D2B-B331-A64947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443C"/>
          </a:solidFill>
          <a:ln xmlns:a="http://schemas.openxmlformats.org/drawingml/2006/main" w="0">
            <a:solidFill>
              <a:srgbClr val="B544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83B46-A621-48C7-B6CB-EB53448B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193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97F56-7375-4848-806E-D3C94BA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2533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ruleset 可能偏斜：少數 key 會集中大量 rules，造成 worst-case lookup 變慢。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7DBB8-5E03-4071-A268-7A1ED224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47850"/>
            <a:ext cx="2952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8F6F8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89E22-595D-40E3-8988-521D57B9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478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2DC98-A0B8-4ED9-AC2E-62A2E9D4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193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論文解法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40076-111F-436C-83DF-5C28192F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00300"/>
            <a:ext cx="2533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對過大的 bucket 加入輔助 TSS 結構，讓最壞情況也有界。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8906B-1C80-4940-B6BF-59C557CC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2952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E79DA-6E25-43EA-8096-4160CB4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9"/>
          </a:solidFill>
          <a:ln xmlns:a="http://schemas.openxmlformats.org/drawingml/2006/main" w="0">
            <a:solidFill>
              <a:srgbClr val="2E7D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4E374-1F0F-4E8F-9DEA-42242EAF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動態重組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3B843-EA69-4499-B775-61266A96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533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當 lookup time 成長超過門檻，重新抽 DBS 並重建 index。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663BC-43B2-403B-91E5-7CA0ECA9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報告時一句話帶過即可：DBS 解決平均情況，hybrid/TSS 補 worst-case。</a:t>
            </a:r>
          </a:p>
        </p:txBody>
      </p:sp>
    </p:spTree>
    <p:extLst>
      <p:ext uri="{BB962C8B-B14F-4D97-AF65-F5344CB8AC3E}">
        <p14:creationId xmlns:p14="http://schemas.microsoft.com/office/powerpoint/2010/main" val="2628586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F77838-F737-4F48-BD95-FF46DB5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PROJECT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641D8-2716-4574-8B5E-29E47A73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D1114-B5CB-4979-950C-37A60564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本專案怎麼對應論文：Python 教學版 + AMPS/TA C++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54DA3-C7E5-484C-9C8C-1A1B4D36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10/16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76300" y="1809750"/>
          <a:ext xmlns:a="http://schemas.openxmlformats.org/drawingml/2006/main" cx="10439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79800"/>
                <a:gridCol w="3479800"/>
                <a:gridCol w="3479800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報告時怎麼說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src/dbtable_classifier.py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教學版 DBTable-inspired classifier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用 12 個 IP bits 建 buckets，容易解釋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ta_reference/amps_dbtable/DBTable.cpp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AMPS/TA C++ DBTable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正式效能數據採用這版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cpp/benchmark_ta_dbtable.cpp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C++ benchmark harness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解析 ClassBench 並測 build/lookup/memory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results/ta_dbtable_results.json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實驗摘要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PPT 數字來源，可追蹤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40959-8ACF-43BD-8C09-AE347F69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994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這頁的作用是把論文概念落到專案檔案，讓老師知道你不只讀 paper，也有跑 benchmark。</a:t>
            </a:r>
          </a:p>
        </p:txBody>
      </p:sp>
    </p:spTree>
    <p:extLst>
      <p:ext uri="{BB962C8B-B14F-4D97-AF65-F5344CB8AC3E}">
        <p14:creationId xmlns:p14="http://schemas.microsoft.com/office/powerpoint/2010/main" val="16580780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B7A9E-47E5-4256-A69A-EFE4A22B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BENCHMARK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51366-B0C1-4198-AAFD-0118CDDC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ACA77-9115-48F7-80C1-0CC5EBE6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實驗設定：ClassBench ACL1 100K rules，測 build、lookup、memory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69A96-77B6-4EAE-81E2-A8741CF7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11/16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ABF8A-6919-4CA6-94EA-10AC0E84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34095-C126-44FE-8E98-9A988D38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99,330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CE581-49EE-44AA-82E2-0482074B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valid parsed rules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F3C0A-E14D-46CD-921A-8B456DAD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46258-0C53-439A-80E2-DC14172E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002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D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E7D59"/>
                </a:solidFill>
                <a:latin typeface="Microsoft JhengHei"/>
                <a:ea typeface="Microsoft JhengHei"/>
                <a:cs typeface="Microsoft JhengHei"/>
              </a:rPr>
              <a:t>100,000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44FC2-7B7D-4DA1-9011-3A8998AD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955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packets tested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59FA9-B0D1-464E-ADD0-05ADCFDB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8D863-BCAF-42D3-8E6A-98FD6207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9A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9A25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1DDE4-6597-4D6B-A0FF-F5596A3D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repeat runs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B1FAE-31E4-4BD5-A7B2-D3BA4919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23D61-62F9-4B2C-814F-CC72255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544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B5443C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C1768-8259-40CE-83CE-05AFADF0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955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threshold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0C069-4F8C-469D-9E9A-017AD030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953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59179-2FA6-40B9-AE89-AD84B49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5715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3CDAF-5142-4F85-B391-F72142CE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62450"/>
            <a:ext cx="853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Benchmark command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88EE9-6682-4E29-828C-425AD717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43450"/>
            <a:ext cx="853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scripts/run_ta_dbtable_experiment.py 5 100000 4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輸出 JSON/CSV，並記錄每次 run 的 build 與 lookup。</a:t>
            </a:r>
          </a:p>
        </p:txBody>
      </p:sp>
    </p:spTree>
    <p:extLst>
      <p:ext uri="{BB962C8B-B14F-4D97-AF65-F5344CB8AC3E}">
        <p14:creationId xmlns:p14="http://schemas.microsoft.com/office/powerpoint/2010/main" val="15533510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E7073E-8E37-4407-A8A3-17FC923C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7A825-B454-4D87-9893-20562AB6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80B93-A69A-45DA-9A92-D404254E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AMPS/TA DBTable.cpp 在本機測得平均 lookup 約 59.9 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20A66-79A2-48CF-847B-076E92FA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12/16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CA1CE-C9AB-45EB-9A41-87122405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37222-EC68-4733-B83F-37364AAC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7D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E7D59"/>
                </a:solidFill>
                <a:latin typeface="Microsoft JhengHei"/>
                <a:ea typeface="Microsoft JhengHei"/>
                <a:cs typeface="Microsoft JhengHei"/>
              </a:rPr>
              <a:t>0.3777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7A5CD-FC6B-406A-A264-6258D763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build time avg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5ED9F-A5B0-45F6-A639-D8BBA0C3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7165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C4751-2D16-4D37-8984-840CF52D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59.902 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578B3-BEC7-43C8-AEC5-319BA03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lookup avg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4F152-08BD-4335-8471-5BE6B19E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7165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73EE0-43DE-4FDC-8606-7D3F4FBB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9A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D99A25"/>
                </a:solidFill>
                <a:latin typeface="Microsoft JhengHei"/>
                <a:ea typeface="Microsoft JhengHei"/>
                <a:cs typeface="Microsoft JhengHei"/>
              </a:rPr>
              <a:t>52.75 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A8D44-5A2A-41E2-9FFC-8281BB56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best run avg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E6168-BEF6-473B-B08C-5CF995D7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71650"/>
            <a:ext cx="2381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35A24-840F-4106-861C-00AE0540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621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544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B5443C"/>
                </a:solidFill>
                <a:latin typeface="Microsoft JhengHei"/>
                <a:ea typeface="Microsoft JhengHei"/>
                <a:cs typeface="Microsoft JhengHei"/>
              </a:rPr>
              <a:t>4.017 MiB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FE4D8-C6E8-4939-812A-6086EF6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memory estimate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1714500" y="3638550"/>
          <a:ext xmlns:a="http://schemas.openxmlformats.org/drawingml/2006/main" cx="8763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82b9c66d5f443d"/>
          </a:graphicData>
        </a:graphic>
      </p:graphicFrame>
    </p:spTree>
    <p:extLst>
      <p:ext uri="{BB962C8B-B14F-4D97-AF65-F5344CB8AC3E}">
        <p14:creationId xmlns:p14="http://schemas.microsoft.com/office/powerpoint/2010/main" val="2511962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35C27-7721-4C41-A30F-DE2B72A9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D2F40-39C9-457A-BE65-2F6BFCDD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C46CA-364C-4126-B338-A0DACAAB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比較重點：DBTable 同時拿到最快 lookup 與最低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10570-8C57-4FA0-B02A-1A5ECD95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13/16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90672-DC86-41C1-AD52-06233A25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33337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E10A5-FBF5-4CD3-93C1-CB101C75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Build time (s)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1123950" y="2400300"/>
          <a:ext xmlns:a="http://schemas.openxmlformats.org/drawingml/2006/main" cx="2705100" cy="1447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220f4fd8b34ed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6C69B-E943-4FAA-A22A-3B174B9A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D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E7D59"/>
                </a:solidFill>
                <a:latin typeface="Microsoft JhengHei"/>
                <a:ea typeface="Microsoft JhengHei"/>
                <a:cs typeface="Microsoft JhengHei"/>
              </a:rPr>
              <a:t>HybridTSS fastest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8AE30-E401-4507-A87A-F6C773BA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lower is better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E9012-9553-45CD-BA3D-AA7A2C58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71650"/>
            <a:ext cx="33337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98751-A64F-4A75-955B-F3DD5ABD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2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Avg lookup (ns)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4762500" y="2400300"/>
          <a:ext xmlns:a="http://schemas.openxmlformats.org/drawingml/2006/main" cx="2705100" cy="1447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e87826fe5142d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6481D-CA4F-4556-95B8-EE2F8B34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57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DBTable fastest 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7E21B-5825-4D18-A631-6A5DFC07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243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lower is better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12A41-1AD7-422E-90FE-063EE76F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33375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27D84-DB7F-44BE-94C2-EE97A02A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Memory footprint (MiB)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8401050" y="2400300"/>
          <a:ext xmlns:a="http://schemas.openxmlformats.org/drawingml/2006/main" cx="2705100" cy="1447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a31fc6b0d94616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F7622-1AF2-4C9F-8AA1-2A906D55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9A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9A25"/>
                </a:solidFill>
                <a:latin typeface="Microsoft JhengHei"/>
                <a:ea typeface="Microsoft JhengHei"/>
                <a:cs typeface="Microsoft JhengHei"/>
              </a:rPr>
              <a:t>DBTable lowest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DCF0B-0AF9-4852-B308-2E52675F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243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lower is 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5E26F-1BFD-42CF-8FD8-56E1A091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一句話：DBTable 的 lookup latency 最亮眼，memory 也是三者最低；CutSplit 建表比 DBTable 短，但 lookup 與 memory 都輸給 DBTable。</a:t>
            </a:r>
          </a:p>
        </p:txBody>
      </p:sp>
    </p:spTree>
    <p:extLst>
      <p:ext uri="{BB962C8B-B14F-4D97-AF65-F5344CB8AC3E}">
        <p14:creationId xmlns:p14="http://schemas.microsoft.com/office/powerpoint/2010/main" val="406279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93A5DE-FA68-4753-B70E-33EC5541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HOW TO PRESENT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B49B3-9B03-46D0-8762-76A2B25C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5AAD6-36AF-4FD0-AF76-1CFC71E1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報告時抓住這條主線：規則太多，所以用可分辨 bits 先縮小候選集合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5B5CA-7AAC-423A-927C-02CE6247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14/16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B14AD-9DFF-4E2F-9BFB-775174A9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3048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6F8"/>
          </a:solidFill>
          <a:ln xmlns:a="http://schemas.openxmlformats.org/drawingml/2006/main" w="9525">
            <a:solidFill>
              <a:srgbClr val="1F8E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C0D1D-B9EC-4DC9-A2CC-52F3D28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1. 問題：大量 rules 難以快速查詢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3BAE0-571B-4FDC-91CF-6F48DEEF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3048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E7D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3AE1E-6B52-41F1-AAB9-D65E12DA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D5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E7D59"/>
                </a:solidFill>
                <a:latin typeface="Microsoft JhengHei"/>
                <a:ea typeface="Microsoft JhengHei"/>
                <a:cs typeface="Microsoft JhengHei"/>
              </a:rPr>
              <a:t>2. 方法：DBS 先縮小候選集合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F5825-8AA9-415E-998C-0B05B446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43100"/>
            <a:ext cx="3048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99A2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4BFB3-F2AC-49AB-863D-47D56692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193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9A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9A25"/>
                </a:solidFill>
                <a:latin typeface="Microsoft JhengHei"/>
                <a:ea typeface="Microsoft JhengHei"/>
                <a:cs typeface="Microsoft JhengHei"/>
              </a:rPr>
              <a:t>3. 保證：bucket 內仍做 exact match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F8F4B-A4A0-4AC6-95C3-41FB8DBD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93345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02462-E110-4D78-B0D9-7138D0F3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B0479-CB85-40ED-82AE-572E7F89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86150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臨場備忘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76356-D393-4E65-A514-3BC60F87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67150"/>
            <a:ext cx="8915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時間不夠時刪掉 hybrid 細節，但保留 DBS、lookup flow、benchmark result 三個段落。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被問 correctness：回答 DBTable 只做 candidate reduction，最後仍用 exact five-tuple match。</a:t>
            </a:r>
          </a:p>
        </p:txBody>
      </p:sp>
    </p:spTree>
    <p:extLst>
      <p:ext uri="{BB962C8B-B14F-4D97-AF65-F5344CB8AC3E}">
        <p14:creationId xmlns:p14="http://schemas.microsoft.com/office/powerpoint/2010/main" val="14112201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3EEC10-8344-4E7D-9893-6BBBCDFD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07218-99DA-463F-AFA5-C97EA2BC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7ADD8-4175-47ED-B629-2CDE6819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總結：DBTable 的價值在於把 lookup 問題轉成小 bucket 內的精確匹配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D7C85-EB8F-4F98-A239-91E58E40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15/16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0049E-6B9C-4B10-A9C9-BE6BA90C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3143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6F8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5A90C-1EB1-444D-82F8-FE9F977C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5F025-AD47-48DA-9119-A4DB259A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核心貢獻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3B193-AB25-44B3-A7E1-D6C63337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38400"/>
            <a:ext cx="2724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用 discriminative bitset 把高維 packet classification 轉成低維 hash index。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CEAA2-2B17-44B4-967F-050213B4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85950"/>
            <a:ext cx="3143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A950B-A042-47C5-88FB-E20F1761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8595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9"/>
          </a:solidFill>
          <a:ln xmlns:a="http://schemas.openxmlformats.org/drawingml/2006/main" w="0">
            <a:solidFill>
              <a:srgbClr val="2E7D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91296-BA29-4476-B51C-2F706CE1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工程價值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BE26B-24D6-4B8A-BE7A-3044AA59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2724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lookup 快、更新簡單，並用 hybrid 結構處理偏斜 bucket 的最壞情況。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A70E6-15E6-4622-A79D-C8138A3D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85950"/>
            <a:ext cx="3143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E61C2-002E-47AF-B35A-FEF0B2EA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8595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25"/>
          </a:solidFill>
          <a:ln xmlns:a="http://schemas.openxmlformats.org/drawingml/2006/main" w="0">
            <a:solidFill>
              <a:srgbClr val="D99A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9CEEB-E18A-438B-8B8C-0367E56E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本專案結果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34D0E-DEDE-4541-8AA6-C0F04C76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27241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59.902 ns lookup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0.3777 s build</a:t>
            </a:r>
          </a:p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4.017 MiB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8102D-0222-42E3-91C9-335B0AA7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529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結尾句：DBTable 不是暴力 hash，而是先從 ruleset 找出最值得 hash 的 bits。</a:t>
            </a:r>
          </a:p>
        </p:txBody>
      </p:sp>
    </p:spTree>
    <p:extLst>
      <p:ext uri="{BB962C8B-B14F-4D97-AF65-F5344CB8AC3E}">
        <p14:creationId xmlns:p14="http://schemas.microsoft.com/office/powerpoint/2010/main" val="4099534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E9F667-47AC-4558-B2BA-DB4F8FBF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F8EA6"/>
                </a:solidFill>
                <a:latin typeface="Microsoft JhengHei"/>
                <a:ea typeface="Microsoft JhengHei"/>
                <a:cs typeface="Microsoft JhengHei"/>
              </a:rPr>
              <a:t>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79AD4-9214-47C1-AFC9-AA011EA0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8EA6"/>
          </a:solidFill>
          <a:ln xmlns:a="http://schemas.openxmlformats.org/drawingml/2006/main" w="0">
            <a:solidFill>
              <a:srgbClr val="1F8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D0EAD-48EE-4948-ABFD-2DA970F8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資料來源與可追蹤性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EC94D-C8E6-4705-BE87-185584F8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A667A"/>
                </a:solidFill>
                <a:latin typeface="Microsoft JhengHei"/>
                <a:ea typeface="Microsoft JhengHei"/>
                <a:cs typeface="Microsoft JhengHei"/>
              </a:rPr>
              <a:t>DBTable algorithm intro | 16/16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B3843-98AD-4210-81D5-1963061E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9810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• Z. Liao et al., “DBTable: Leveraging Discriminative Bitsets for High-Performance Packet Classification,” IEEE/ACM Transactions on Networking, 2024.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• Project README: DBTable Packet Classification Final Project.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• results/ta_dbtable_results.json and results/dbtable_results.json.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• src/dbtable_classifier.py, cpp/benchmark_ta_dbtable.cpp, scripts/run_ta_dbtable_experiment.py.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0A503-6DFA-449D-950F-2F96B9DC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05350"/>
            <a:ext cx="78105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30595-DAE6-4218-9CAA-4B7E1F99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05350"/>
            <a:ext cx="57150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9"/>
          </a:solidFill>
          <a:ln xmlns:a="http://schemas.openxmlformats.org/drawingml/2006/main" w="0">
            <a:solidFill>
              <a:srgbClr val="2E7D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FC1B1-7DC2-4C1A-9DFA-37A26C7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7680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CB7CB-4334-452A-9481-390A809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57800"/>
            <a:ext cx="73914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2033"/>
                </a:solidFill>
                <a:latin typeface="Microsoft JhengHei"/>
                <a:ea typeface="Microsoft JhengHei"/>
                <a:cs typeface="Microsoft JhengHei"/>
              </a:rPr>
              <a:t>正式報告可停在結論頁；本頁作為 QA 或資料來源附錄。</a:t>
            </a:r>
          </a:p>
        </p:txBody>
      </p:sp>
    </p:spTree>
    <p:extLst>
      <p:ext uri="{BB962C8B-B14F-4D97-AF65-F5344CB8AC3E}">
        <p14:creationId xmlns:p14="http://schemas.microsoft.com/office/powerpoint/2010/main" val="410431106"/>
      </p:ext>
    </p:extLst>
  </p:cSld>
</p:sld>
</file>

<file path=ppt/theme/theme1.xml><?xml version="1.0" encoding="utf-8"?>
<a:theme xmlns:a="http://schemas.openxmlformats.org/drawingml/2006/main" name="ChatGPT">
  <a:themeElements>
    <a:clrScheme name="DBTabl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F8EA6"/>
      </a:accent1>
      <a:accent2>
        <a:srgbClr val="2E7D59"/>
      </a:accent2>
      <a:accent3>
        <a:srgbClr val="D99A25"/>
      </a:accent3>
      <a:accent4>
        <a:srgbClr val="B5443C"/>
      </a:accent4>
      <a:accent5>
        <a:srgbClr val="5A667A"/>
      </a:accent5>
      <a:accent6>
        <a:srgbClr val="D7DFEA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BTab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2026-06-18T14:18:13.8290000Z</dcterms:created>
  <dcterms:modified xsi:type="dcterms:W3CDTF">2026-06-18T14:18:13.8300000Z</dcterms:modified>
</coreProperties>
</file>