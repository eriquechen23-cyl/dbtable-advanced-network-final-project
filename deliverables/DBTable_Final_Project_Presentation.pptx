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0" name="cover-title"/>
          <p:cNvSpPr txBox="1"/>
          <p:nvPr/>
        </p:nvSpPr>
        <p:spPr>
          <a:xfrm>
            <a:off x="658368" y="777240"/>
            <a:ext cx="5029200" cy="68580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4400" b="1" dirty="0" smtClean="0">
                <a:solidFill>
                  <a:srgbClr val="FFFFFF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11" name="subtitle"/>
          <p:cNvSpPr txBox="1"/>
          <p:nvPr/>
        </p:nvSpPr>
        <p:spPr>
          <a:xfrm>
            <a:off x="694944" y="1536192"/>
            <a:ext cx="8412480" cy="420624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800" dirty="0" smtClean="0">
                <a:solidFill>
                  <a:srgbClr val="D7E9F3"/>
                </a:solidFill>
                <a:latin typeface="Microsoft JhengHei"/>
                <a:ea typeface="Microsoft JhengHei"/>
              </a:rPr>
              <a:t>Leveraging discriminative bitsets for high-performance packet classification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713232" y="2139696"/>
            <a:ext cx="27432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13" name="metric"/>
          <p:cNvSpPr txBox="1"/>
          <p:nvPr/>
        </p:nvSpPr>
        <p:spPr>
          <a:xfrm>
            <a:off x="713232" y="475488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14" name="label"/>
          <p:cNvSpPr txBox="1"/>
          <p:nvPr/>
        </p:nvSpPr>
        <p:spPr>
          <a:xfrm>
            <a:off x="713232" y="519379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valid ClassBench ACL1 rules</a:t>
            </a:r>
          </a:p>
        </p:txBody>
      </p:sp>
      <p:sp>
        <p:nvSpPr>
          <p:cNvPr id="15" name="metric"/>
          <p:cNvSpPr txBox="1"/>
          <p:nvPr/>
        </p:nvSpPr>
        <p:spPr>
          <a:xfrm>
            <a:off x="2944368" y="475488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944368" y="519379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17" name="metric"/>
          <p:cNvSpPr txBox="1"/>
          <p:nvPr/>
        </p:nvSpPr>
        <p:spPr>
          <a:xfrm>
            <a:off x="5175504" y="475488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175504" y="519379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19" name="author"/>
          <p:cNvSpPr txBox="1"/>
          <p:nvPr/>
        </p:nvSpPr>
        <p:spPr>
          <a:xfrm>
            <a:off x="731520" y="6309360"/>
            <a:ext cx="5852160" cy="219456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dirty="0" smtClean="0">
                <a:solidFill>
                  <a:srgbClr val="BFD8E5"/>
                </a:solidFill>
                <a:latin typeface="Microsoft JhengHei"/>
                <a:ea typeface="Microsoft JhengHei"/>
              </a:rPr>
              <a:t>高效能網路期末專案 | P77141155 陳燁龍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BFD8E5"/>
                </a:solidFill>
                <a:latin typeface="Microsoft JhengHei"/>
                <a:ea typeface="Microsoft JhengHei"/>
              </a:rPr>
              <a:t>DBTable Packet Classification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PROJECT SCOPE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本專案完成 DBTable 的研究、實作與實驗評估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731520" y="2057400"/>
            <a:ext cx="10332720" cy="2560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研究 DBTable 如何以 discriminative bits 降低 packet lookup 候選集合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下載 AMPS 參考實作與 ClassBench ACL1 100K rules/trace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撰寫可重現的 DBTable-inspired Python classifier 與 benchmark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量測 build time、lookup time、memory consumption，並提供組員比較框架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PROBLEM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Packet classification 是最高優先權五元組匹配問題</a:t>
            </a:r>
          </a:p>
        </p:txBody>
      </p:sp>
      <p:sp>
        <p:nvSpPr>
          <p:cNvPr id="20" name="sip"/>
          <p:cNvSpPr txBox="1"/>
          <p:nvPr/>
        </p:nvSpPr>
        <p:spPr>
          <a:xfrm>
            <a:off x="731520" y="1965960"/>
            <a:ext cx="1600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Source IP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prefix</a:t>
            </a:r>
          </a:p>
        </p:txBody>
      </p:sp>
      <p:sp>
        <p:nvSpPr>
          <p:cNvPr id="21" name="dip"/>
          <p:cNvSpPr txBox="1"/>
          <p:nvPr/>
        </p:nvSpPr>
        <p:spPr>
          <a:xfrm>
            <a:off x="2651760" y="1965960"/>
            <a:ext cx="169164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Destination IP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prefix</a:t>
            </a:r>
          </a:p>
        </p:txBody>
      </p:sp>
      <p:sp>
        <p:nvSpPr>
          <p:cNvPr id="22" name="sport"/>
          <p:cNvSpPr txBox="1"/>
          <p:nvPr/>
        </p:nvSpPr>
        <p:spPr>
          <a:xfrm>
            <a:off x="4663440" y="1965960"/>
            <a:ext cx="1600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Source Port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range</a:t>
            </a:r>
          </a:p>
        </p:txBody>
      </p:sp>
      <p:sp>
        <p:nvSpPr>
          <p:cNvPr id="23" name="dport"/>
          <p:cNvSpPr txBox="1"/>
          <p:nvPr/>
        </p:nvSpPr>
        <p:spPr>
          <a:xfrm>
            <a:off x="6583680" y="1965960"/>
            <a:ext cx="17830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Destination Port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range</a:t>
            </a:r>
          </a:p>
        </p:txBody>
      </p:sp>
      <p:sp>
        <p:nvSpPr>
          <p:cNvPr id="24" name="proto"/>
          <p:cNvSpPr txBox="1"/>
          <p:nvPr/>
        </p:nvSpPr>
        <p:spPr>
          <a:xfrm>
            <a:off x="8732520" y="1965960"/>
            <a:ext cx="15087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Protocol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mask</a:t>
            </a:r>
          </a:p>
        </p:txBody>
      </p:sp>
      <p:sp>
        <p:nvSpPr>
          <p:cNvPr id="25" name="desc"/>
          <p:cNvSpPr txBox="1"/>
          <p:nvPr/>
        </p:nvSpPr>
        <p:spPr>
          <a:xfrm>
            <a:off x="960120" y="3749039"/>
            <a:ext cx="9966960" cy="8229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8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封包到達時，需要在大量規則中找出所有匹配者，並回傳 priority 最高的 rule。困難點在於 IP prefix、port range 與 wildcard/mask 會讓搜尋空間快速膨脹。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CORE IDEA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DBTable 用具辨識力的 bit 先縮小候選規則集合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685800" y="1783080"/>
            <a:ext cx="5074920" cy="34747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建表前分析 ruleset：哪些 IP bit 能把規則切得最平均、覆蓋率最高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以 selected bits 形成 bucket key；規則被放到相容 bucket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Lookup 時 packet 只需取同一組 bits 找 bucket，再做完整五元組驗證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效果：把 full ruleset scan 轉成 candidate bucket scan</a:t>
            </a:r>
          </a:p>
        </p:txBody>
      </p:sp>
      <p:sp>
        <p:nvSpPr>
          <p:cNvPr id="21" name="full"/>
          <p:cNvSpPr txBox="1"/>
          <p:nvPr/>
        </p:nvSpPr>
        <p:spPr>
          <a:xfrm>
            <a:off x="6400800" y="1828800"/>
            <a:ext cx="1645920" cy="82296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Full ruleset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~99K rules</a:t>
            </a:r>
          </a:p>
        </p:txBody>
      </p:sp>
      <p:sp>
        <p:nvSpPr>
          <p:cNvPr id="22" name="rank"/>
          <p:cNvSpPr txBox="1"/>
          <p:nvPr/>
        </p:nvSpPr>
        <p:spPr>
          <a:xfrm>
            <a:off x="8229600" y="1828800"/>
            <a:ext cx="1645920" cy="82296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Bit ranking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12 selected bits</a:t>
            </a:r>
          </a:p>
        </p:txBody>
      </p:sp>
      <p:sp>
        <p:nvSpPr>
          <p:cNvPr id="23" name="buckets"/>
          <p:cNvSpPr txBox="1"/>
          <p:nvPr/>
        </p:nvSpPr>
        <p:spPr>
          <a:xfrm>
            <a:off x="7315200" y="3246120"/>
            <a:ext cx="1920240" cy="86868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4096 buckets</a:t>
            </a:r>
          </a:p>
          <a:p>
            <a:pPr algn="ctr"/>
            <a:r>
              <a:rPr lang="zh-TW" sz="14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avg 169 rules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ARCHITECTURE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建表與查詢分成兩條清楚流程</a:t>
            </a:r>
          </a:p>
        </p:txBody>
      </p:sp>
      <p:sp>
        <p:nvSpPr>
          <p:cNvPr id="20" name="r"/>
          <p:cNvSpPr txBox="1"/>
          <p:nvPr/>
        </p:nvSpPr>
        <p:spPr>
          <a:xfrm>
            <a:off x="685800" y="1828800"/>
            <a:ext cx="141732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ClassBench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rules</a:t>
            </a:r>
          </a:p>
        </p:txBody>
      </p:sp>
      <p:sp>
        <p:nvSpPr>
          <p:cNvPr id="21" name="p"/>
          <p:cNvSpPr txBox="1"/>
          <p:nvPr/>
        </p:nvSpPr>
        <p:spPr>
          <a:xfrm>
            <a:off x="2514600" y="1828800"/>
            <a:ext cx="1280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Parser</a:t>
            </a:r>
          </a:p>
        </p:txBody>
      </p:sp>
      <p:sp>
        <p:nvSpPr>
          <p:cNvPr id="22" name="b"/>
          <p:cNvSpPr txBox="1"/>
          <p:nvPr/>
        </p:nvSpPr>
        <p:spPr>
          <a:xfrm>
            <a:off x="4206240" y="1828800"/>
            <a:ext cx="141732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Bit ranking</a:t>
            </a:r>
          </a:p>
        </p:txBody>
      </p:sp>
      <p:sp>
        <p:nvSpPr>
          <p:cNvPr id="23" name="bt"/>
          <p:cNvSpPr txBox="1"/>
          <p:nvPr/>
        </p:nvSpPr>
        <p:spPr>
          <a:xfrm>
            <a:off x="6080760" y="1828800"/>
            <a:ext cx="15087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</p:txBody>
      </p:sp>
      <p:sp>
        <p:nvSpPr>
          <p:cNvPr id="24" name="tr"/>
          <p:cNvSpPr txBox="1"/>
          <p:nvPr/>
        </p:nvSpPr>
        <p:spPr>
          <a:xfrm>
            <a:off x="685800" y="3657600"/>
            <a:ext cx="1417320" cy="713232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Packet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trace</a:t>
            </a:r>
          </a:p>
        </p:txBody>
      </p:sp>
      <p:sp>
        <p:nvSpPr>
          <p:cNvPr id="25" name="ke"/>
          <p:cNvSpPr txBox="1"/>
          <p:nvPr/>
        </p:nvSpPr>
        <p:spPr>
          <a:xfrm>
            <a:off x="2514600" y="3657600"/>
            <a:ext cx="1417320" cy="713232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Key extraction</a:t>
            </a:r>
          </a:p>
        </p:txBody>
      </p:sp>
      <p:sp>
        <p:nvSpPr>
          <p:cNvPr id="26" name="cb"/>
          <p:cNvSpPr txBox="1"/>
          <p:nvPr/>
        </p:nvSpPr>
        <p:spPr>
          <a:xfrm>
            <a:off x="4434840" y="3657600"/>
            <a:ext cx="1463040" cy="713232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Candidate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bucket</a:t>
            </a:r>
          </a:p>
        </p:txBody>
      </p:sp>
      <p:sp>
        <p:nvSpPr>
          <p:cNvPr id="27" name="em"/>
          <p:cNvSpPr txBox="1"/>
          <p:nvPr/>
        </p:nvSpPr>
        <p:spPr>
          <a:xfrm>
            <a:off x="6400800" y="3657600"/>
            <a:ext cx="1645920" cy="713232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Exact match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+ priority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BUILD PIPELINE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建表成本主要來自 bit ranking 與 bucket replication</a:t>
            </a:r>
          </a:p>
        </p:txBody>
      </p:sp>
      <p:sp>
        <p:nvSpPr>
          <p:cNvPr id="20" name="th"/>
          <p:cNvSpPr txBox="1"/>
          <p:nvPr/>
        </p:nvSpPr>
        <p:spPr>
          <a:xfrm>
            <a:off x="731520" y="1783080"/>
            <a:ext cx="3474720" cy="47548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Step</a:t>
            </a:r>
          </a:p>
        </p:txBody>
      </p:sp>
      <p:sp>
        <p:nvSpPr>
          <p:cNvPr id="21" name="th"/>
          <p:cNvSpPr txBox="1"/>
          <p:nvPr/>
        </p:nvSpPr>
        <p:spPr>
          <a:xfrm>
            <a:off x="4206240" y="1783080"/>
            <a:ext cx="3474720" cy="47548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Work</a:t>
            </a:r>
          </a:p>
        </p:txBody>
      </p:sp>
      <p:sp>
        <p:nvSpPr>
          <p:cNvPr id="22" name="th"/>
          <p:cNvSpPr txBox="1"/>
          <p:nvPr/>
        </p:nvSpPr>
        <p:spPr>
          <a:xfrm>
            <a:off x="7680960" y="1783080"/>
            <a:ext cx="3474720" cy="47548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Output</a:t>
            </a:r>
          </a:p>
        </p:txBody>
      </p:sp>
      <p:sp>
        <p:nvSpPr>
          <p:cNvPr id="23" name="td"/>
          <p:cNvSpPr txBox="1"/>
          <p:nvPr/>
        </p:nvSpPr>
        <p:spPr>
          <a:xfrm>
            <a:off x="731520" y="2258568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24" name="td"/>
          <p:cNvSpPr txBox="1"/>
          <p:nvPr/>
        </p:nvSpPr>
        <p:spPr>
          <a:xfrm>
            <a:off x="4206240" y="2258568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Parse ClassBench rules</a:t>
            </a:r>
          </a:p>
        </p:txBody>
      </p:sp>
      <p:sp>
        <p:nvSpPr>
          <p:cNvPr id="25" name="td"/>
          <p:cNvSpPr txBox="1"/>
          <p:nvPr/>
        </p:nvSpPr>
        <p:spPr>
          <a:xfrm>
            <a:off x="7680960" y="2258568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Rule objects</a:t>
            </a:r>
          </a:p>
        </p:txBody>
      </p:sp>
      <p:sp>
        <p:nvSpPr>
          <p:cNvPr id="26" name="td"/>
          <p:cNvSpPr txBox="1"/>
          <p:nvPr/>
        </p:nvSpPr>
        <p:spPr>
          <a:xfrm>
            <a:off x="731520" y="2734056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27" name="td"/>
          <p:cNvSpPr txBox="1"/>
          <p:nvPr/>
        </p:nvSpPr>
        <p:spPr>
          <a:xfrm>
            <a:off x="4206240" y="2734056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Score each IP bit by split balance and coverage</a:t>
            </a:r>
          </a:p>
        </p:txBody>
      </p:sp>
      <p:sp>
        <p:nvSpPr>
          <p:cNvPr id="28" name="td"/>
          <p:cNvSpPr txBox="1"/>
          <p:nvPr/>
        </p:nvSpPr>
        <p:spPr>
          <a:xfrm>
            <a:off x="7680960" y="2734056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Selected bits</a:t>
            </a:r>
          </a:p>
        </p:txBody>
      </p:sp>
      <p:sp>
        <p:nvSpPr>
          <p:cNvPr id="29" name="td"/>
          <p:cNvSpPr txBox="1"/>
          <p:nvPr/>
        </p:nvSpPr>
        <p:spPr>
          <a:xfrm>
            <a:off x="731520" y="3209544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30" name="td"/>
          <p:cNvSpPr txBox="1"/>
          <p:nvPr/>
        </p:nvSpPr>
        <p:spPr>
          <a:xfrm>
            <a:off x="4206240" y="3209544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Generate compatible bucket keys for each rule</a:t>
            </a:r>
          </a:p>
        </p:txBody>
      </p:sp>
      <p:sp>
        <p:nvSpPr>
          <p:cNvPr id="31" name="td"/>
          <p:cNvSpPr txBox="1"/>
          <p:nvPr/>
        </p:nvSpPr>
        <p:spPr>
          <a:xfrm>
            <a:off x="7680960" y="3209544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</p:txBody>
      </p:sp>
      <p:sp>
        <p:nvSpPr>
          <p:cNvPr id="32" name="td"/>
          <p:cNvSpPr txBox="1"/>
          <p:nvPr/>
        </p:nvSpPr>
        <p:spPr>
          <a:xfrm>
            <a:off x="731520" y="3685032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33" name="td"/>
          <p:cNvSpPr txBox="1"/>
          <p:nvPr/>
        </p:nvSpPr>
        <p:spPr>
          <a:xfrm>
            <a:off x="4206240" y="3685032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Sort candidates by priority</a:t>
            </a:r>
          </a:p>
        </p:txBody>
      </p:sp>
      <p:sp>
        <p:nvSpPr>
          <p:cNvPr id="34" name="td"/>
          <p:cNvSpPr txBox="1"/>
          <p:nvPr/>
        </p:nvSpPr>
        <p:spPr>
          <a:xfrm>
            <a:off x="7680960" y="3685032"/>
            <a:ext cx="347472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Fast lookup lists</a:t>
            </a:r>
          </a:p>
        </p:txBody>
      </p:sp>
      <p:sp>
        <p:nvSpPr>
          <p:cNvPr id="60" name="metric"/>
          <p:cNvSpPr txBox="1"/>
          <p:nvPr/>
        </p:nvSpPr>
        <p:spPr>
          <a:xfrm>
            <a:off x="868680" y="507492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61" name="label"/>
          <p:cNvSpPr txBox="1"/>
          <p:nvPr/>
        </p:nvSpPr>
        <p:spPr>
          <a:xfrm>
            <a:off x="868680" y="5513831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measured build time</a:t>
            </a:r>
          </a:p>
        </p:txBody>
      </p:sp>
      <p:sp>
        <p:nvSpPr>
          <p:cNvPr id="62" name="metric"/>
          <p:cNvSpPr txBox="1"/>
          <p:nvPr/>
        </p:nvSpPr>
        <p:spPr>
          <a:xfrm>
            <a:off x="3154680" y="507492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693,456</a:t>
            </a:r>
          </a:p>
        </p:txBody>
      </p:sp>
      <p:sp>
        <p:nvSpPr>
          <p:cNvPr id="63" name="label"/>
          <p:cNvSpPr txBox="1"/>
          <p:nvPr/>
        </p:nvSpPr>
        <p:spPr>
          <a:xfrm>
            <a:off x="3154680" y="5513831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replicated bucket entries</a:t>
            </a:r>
          </a:p>
        </p:txBody>
      </p:sp>
      <p:sp>
        <p:nvSpPr>
          <p:cNvPr id="64" name="metric"/>
          <p:cNvSpPr txBox="1"/>
          <p:nvPr/>
        </p:nvSpPr>
        <p:spPr>
          <a:xfrm>
            <a:off x="5440680" y="5074920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0</a:t>
            </a:r>
          </a:p>
        </p:txBody>
      </p:sp>
      <p:sp>
        <p:nvSpPr>
          <p:cNvPr id="65" name="label"/>
          <p:cNvSpPr txBox="1"/>
          <p:nvPr/>
        </p:nvSpPr>
        <p:spPr>
          <a:xfrm>
            <a:off x="5440680" y="5513831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fallback rules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LOOKUP PIPELINE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查詢只掃描一個候選 bucket，再做精確五元組比對</a:t>
            </a:r>
          </a:p>
        </p:txBody>
      </p:sp>
      <p:sp>
        <p:nvSpPr>
          <p:cNvPr id="20" name="in"/>
          <p:cNvSpPr txBox="1"/>
          <p:nvPr/>
        </p:nvSpPr>
        <p:spPr>
          <a:xfrm>
            <a:off x="868680" y="2103120"/>
            <a:ext cx="1645920" cy="77724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Incoming packet</a:t>
            </a:r>
          </a:p>
        </p:txBody>
      </p:sp>
      <p:sp>
        <p:nvSpPr>
          <p:cNvPr id="21" name="ex"/>
          <p:cNvSpPr txBox="1"/>
          <p:nvPr/>
        </p:nvSpPr>
        <p:spPr>
          <a:xfrm>
            <a:off x="2880360" y="2103120"/>
            <a:ext cx="1691640" cy="77724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Extract selected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IP bits</a:t>
            </a:r>
          </a:p>
        </p:txBody>
      </p:sp>
      <p:sp>
        <p:nvSpPr>
          <p:cNvPr id="22" name="find"/>
          <p:cNvSpPr txBox="1"/>
          <p:nvPr/>
        </p:nvSpPr>
        <p:spPr>
          <a:xfrm>
            <a:off x="4983480" y="2103120"/>
            <a:ext cx="1691640" cy="77724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Find candidate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bucket</a:t>
            </a:r>
          </a:p>
        </p:txBody>
      </p:sp>
      <p:sp>
        <p:nvSpPr>
          <p:cNvPr id="23" name="ver"/>
          <p:cNvSpPr txBox="1"/>
          <p:nvPr/>
        </p:nvSpPr>
        <p:spPr>
          <a:xfrm>
            <a:off x="7086600" y="2103120"/>
            <a:ext cx="1783080" cy="77724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Verify 5-tuple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constraints</a:t>
            </a:r>
          </a:p>
        </p:txBody>
      </p:sp>
      <p:sp>
        <p:nvSpPr>
          <p:cNvPr id="24" name="ret"/>
          <p:cNvSpPr txBox="1"/>
          <p:nvPr/>
        </p:nvSpPr>
        <p:spPr>
          <a:xfrm>
            <a:off x="9281160" y="2103120"/>
            <a:ext cx="1508760" cy="77724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Return best</a:t>
            </a:r>
          </a:p>
          <a:p>
            <a:pPr algn="ctr"/>
            <a:r>
              <a:rPr lang="zh-TW" sz="13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priority</a:t>
            </a:r>
          </a:p>
        </p:txBody>
      </p:sp>
      <p:sp>
        <p:nvSpPr>
          <p:cNvPr id="30" name="bullets"/>
          <p:cNvSpPr txBox="1"/>
          <p:nvPr/>
        </p:nvSpPr>
        <p:spPr>
          <a:xfrm>
            <a:off x="1051560" y="3977639"/>
            <a:ext cx="9784080" cy="1325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候選 bucket 內仍做 exact match，因此分類結果可驗證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若 selected bits 對資料集有辨識力，平均候選規則數會大幅下降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Wildcard prefix 會造成規則複製，是 DBTable 記憶體與建表成本的重要來源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IMPLEMENTATION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本專案保留 DBTable 核心概念，並讓實驗可重現</a:t>
            </a:r>
          </a:p>
        </p:txBody>
      </p:sp>
      <p:sp>
        <p:nvSpPr>
          <p:cNvPr id="20" name="th"/>
          <p:cNvSpPr txBox="1"/>
          <p:nvPr/>
        </p:nvSpPr>
        <p:spPr>
          <a:xfrm>
            <a:off x="685800" y="1737360"/>
            <a:ext cx="5394960" cy="512064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File</a:t>
            </a:r>
          </a:p>
        </p:txBody>
      </p:sp>
      <p:sp>
        <p:nvSpPr>
          <p:cNvPr id="21" name="th"/>
          <p:cNvSpPr txBox="1"/>
          <p:nvPr/>
        </p:nvSpPr>
        <p:spPr>
          <a:xfrm>
            <a:off x="6080760" y="1737360"/>
            <a:ext cx="5394960" cy="512064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Role</a:t>
            </a:r>
          </a:p>
        </p:txBody>
      </p:sp>
      <p:sp>
        <p:nvSpPr>
          <p:cNvPr id="22" name="td"/>
          <p:cNvSpPr txBox="1"/>
          <p:nvPr/>
        </p:nvSpPr>
        <p:spPr>
          <a:xfrm>
            <a:off x="685800" y="2249424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src/classbench.py</a:t>
            </a:r>
          </a:p>
        </p:txBody>
      </p:sp>
      <p:sp>
        <p:nvSpPr>
          <p:cNvPr id="23" name="td"/>
          <p:cNvSpPr txBox="1"/>
          <p:nvPr/>
        </p:nvSpPr>
        <p:spPr>
          <a:xfrm>
            <a:off x="6080760" y="2249424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Rule/trace parser and exact 5-tuple matcher</a:t>
            </a:r>
          </a:p>
        </p:txBody>
      </p:sp>
      <p:sp>
        <p:nvSpPr>
          <p:cNvPr id="24" name="td"/>
          <p:cNvSpPr txBox="1"/>
          <p:nvPr/>
        </p:nvSpPr>
        <p:spPr>
          <a:xfrm>
            <a:off x="685800" y="2761488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src/dbtable_classifier.py</a:t>
            </a:r>
          </a:p>
        </p:txBody>
      </p:sp>
      <p:sp>
        <p:nvSpPr>
          <p:cNvPr id="25" name="td"/>
          <p:cNvSpPr txBox="1"/>
          <p:nvPr/>
        </p:nvSpPr>
        <p:spPr>
          <a:xfrm>
            <a:off x="6080760" y="2761488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Discriminative-bit bucket classifier</a:t>
            </a:r>
          </a:p>
        </p:txBody>
      </p:sp>
      <p:sp>
        <p:nvSpPr>
          <p:cNvPr id="26" name="td"/>
          <p:cNvSpPr txBox="1"/>
          <p:nvPr/>
        </p:nvSpPr>
        <p:spPr>
          <a:xfrm>
            <a:off x="685800" y="3273552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scripts/run_experiment.py</a:t>
            </a:r>
          </a:p>
        </p:txBody>
      </p:sp>
      <p:sp>
        <p:nvSpPr>
          <p:cNvPr id="27" name="td"/>
          <p:cNvSpPr txBox="1"/>
          <p:nvPr/>
        </p:nvSpPr>
        <p:spPr>
          <a:xfrm>
            <a:off x="6080760" y="3273552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Build/lookup/memory benchmark</a:t>
            </a:r>
          </a:p>
        </p:txBody>
      </p:sp>
      <p:sp>
        <p:nvSpPr>
          <p:cNvPr id="28" name="td"/>
          <p:cNvSpPr txBox="1"/>
          <p:nvPr/>
        </p:nvSpPr>
        <p:spPr>
          <a:xfrm>
            <a:off x="685800" y="3785616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scripts/validate_correctness.py</a:t>
            </a:r>
          </a:p>
        </p:txBody>
      </p:sp>
      <p:sp>
        <p:nvSpPr>
          <p:cNvPr id="29" name="td"/>
          <p:cNvSpPr txBox="1"/>
          <p:nvPr/>
        </p:nvSpPr>
        <p:spPr>
          <a:xfrm>
            <a:off x="6080760" y="3785616"/>
            <a:ext cx="539496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Linear-scan oracle smoke test</a:t>
            </a:r>
          </a:p>
        </p:txBody>
      </p:sp>
      <p:sp>
        <p:nvSpPr>
          <p:cNvPr id="60" name="limit"/>
          <p:cNvSpPr txBox="1"/>
          <p:nvPr/>
        </p:nvSpPr>
        <p:spPr>
          <a:xfrm>
            <a:off x="868680" y="5166360"/>
            <a:ext cx="10241280" cy="32004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400" b="1" dirty="0" smtClean="0">
                <a:solidFill>
                  <a:srgbClr val="A23B3B"/>
                </a:solidFill>
                <a:latin typeface="Microsoft JhengHei"/>
                <a:ea typeface="Microsoft JhengHei"/>
              </a:rPr>
              <a:t>Important limitation: this is a DBTable-inspired educational implementation, not a line-by-line port of the AMPS C++ version.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DATASET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ClassBench ACL1 100K rules 作為測試資料集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82296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valid parsed rules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15468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100,000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315468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packets tested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48640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4,096</a:t>
            </a:r>
          </a:p>
        </p:txBody>
      </p:sp>
      <p:sp>
        <p:nvSpPr>
          <p:cNvPr id="25" name="label"/>
          <p:cNvSpPr txBox="1"/>
          <p:nvPr/>
        </p:nvSpPr>
        <p:spPr>
          <a:xfrm>
            <a:off x="548640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buckets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781812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1F4E79"/>
                </a:solidFill>
                <a:latin typeface="Microsoft JhengHei"/>
                <a:ea typeface="Microsoft JhengHei"/>
              </a:rPr>
              <a:t>169.3</a:t>
            </a:r>
          </a:p>
        </p:txBody>
      </p:sp>
      <p:sp>
        <p:nvSpPr>
          <p:cNvPr id="27" name="label"/>
          <p:cNvSpPr txBox="1"/>
          <p:nvPr/>
        </p:nvSpPr>
        <p:spPr>
          <a:xfrm>
            <a:off x="781812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avg bucket size</a:t>
            </a:r>
          </a:p>
        </p:txBody>
      </p:sp>
      <p:sp>
        <p:nvSpPr>
          <p:cNvPr id="30" name="bullets"/>
          <p:cNvSpPr txBox="1"/>
          <p:nvPr/>
        </p:nvSpPr>
        <p:spPr>
          <a:xfrm>
            <a:off x="914400" y="3749039"/>
            <a:ext cx="9875520" cy="1417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資料來源已下載至 data/classbench/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外部參考實作保留於 external/amps/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ClassBench 100K 檔案實際可解析有效規則數為 99,330，報告中已明確記錄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RESULTS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DBTable-inspired 實測結果顯示候選集合已有效縮小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E7D59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82296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build time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15468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E7D59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315468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48640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E7D59"/>
                </a:solidFill>
                <a:latin typeface="Microsoft JhengHei"/>
                <a:ea typeface="Microsoft JhengHei"/>
              </a:rPr>
              <a:t>35100 ns</a:t>
            </a:r>
          </a:p>
        </p:txBody>
      </p:sp>
      <p:sp>
        <p:nvSpPr>
          <p:cNvPr id="25" name="label"/>
          <p:cNvSpPr txBox="1"/>
          <p:nvPr/>
        </p:nvSpPr>
        <p:spPr>
          <a:xfrm>
            <a:off x="548640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P99 lookup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7818120" y="1874519"/>
            <a:ext cx="2057400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2000" b="1" dirty="0" smtClean="0">
                <a:solidFill>
                  <a:srgbClr val="2E7D59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27" name="label"/>
          <p:cNvSpPr txBox="1"/>
          <p:nvPr/>
        </p:nvSpPr>
        <p:spPr>
          <a:xfrm>
            <a:off x="7818120" y="2313432"/>
            <a:ext cx="205740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45720" tIns="45720" rIns="45720" bIns="45720"/>
          <a:lstStyle/>
          <a:p>
            <a:pPr algn="ctr"/>
            <a:r>
              <a:rPr lang="zh-TW" sz="10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30" name="bullets"/>
          <p:cNvSpPr txBox="1"/>
          <p:nvPr/>
        </p:nvSpPr>
        <p:spPr>
          <a:xfrm>
            <a:off x="914400" y="4069080"/>
            <a:ext cx="9875520" cy="123444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- 4096 buckets 將近十萬規則分散成平均約 169 筆的候選集合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Lookup 成本主要由 candidate bucket scan 與 exact match 決定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Correctness smoke test: 200 sampled packets matched linear scan oracle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COMPARISON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與組員演算法比較時，建議用同一組三個核心指標</a:t>
            </a:r>
          </a:p>
        </p:txBody>
      </p:sp>
      <p:sp>
        <p:nvSpPr>
          <p:cNvPr id="20" name="th"/>
          <p:cNvSpPr txBox="1"/>
          <p:nvPr/>
        </p:nvSpPr>
        <p:spPr>
          <a:xfrm>
            <a:off x="594360" y="1691640"/>
            <a:ext cx="2743200" cy="50292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Dimension</a:t>
            </a:r>
          </a:p>
        </p:txBody>
      </p:sp>
      <p:sp>
        <p:nvSpPr>
          <p:cNvPr id="21" name="th"/>
          <p:cNvSpPr txBox="1"/>
          <p:nvPr/>
        </p:nvSpPr>
        <p:spPr>
          <a:xfrm>
            <a:off x="3337560" y="1691640"/>
            <a:ext cx="2743200" cy="50292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22" name="th"/>
          <p:cNvSpPr txBox="1"/>
          <p:nvPr/>
        </p:nvSpPr>
        <p:spPr>
          <a:xfrm>
            <a:off x="6080760" y="1691640"/>
            <a:ext cx="2743200" cy="50292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Group Algorithm A</a:t>
            </a:r>
          </a:p>
        </p:txBody>
      </p:sp>
      <p:sp>
        <p:nvSpPr>
          <p:cNvPr id="23" name="th"/>
          <p:cNvSpPr txBox="1"/>
          <p:nvPr/>
        </p:nvSpPr>
        <p:spPr>
          <a:xfrm>
            <a:off x="8823960" y="1691640"/>
            <a:ext cx="2743200" cy="50292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0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Group Algorithm B</a:t>
            </a:r>
          </a:p>
        </p:txBody>
      </p:sp>
      <p:sp>
        <p:nvSpPr>
          <p:cNvPr id="24" name="td"/>
          <p:cNvSpPr txBox="1"/>
          <p:nvPr/>
        </p:nvSpPr>
        <p:spPr>
          <a:xfrm>
            <a:off x="594360" y="219456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Build</a:t>
            </a:r>
          </a:p>
        </p:txBody>
      </p:sp>
      <p:sp>
        <p:nvSpPr>
          <p:cNvPr id="25" name="td"/>
          <p:cNvSpPr txBox="1"/>
          <p:nvPr/>
        </p:nvSpPr>
        <p:spPr>
          <a:xfrm>
            <a:off x="3337560" y="219456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6" name="td"/>
          <p:cNvSpPr txBox="1"/>
          <p:nvPr/>
        </p:nvSpPr>
        <p:spPr>
          <a:xfrm>
            <a:off x="6080760" y="219456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 with teammate data</a:t>
            </a:r>
          </a:p>
        </p:txBody>
      </p:sp>
      <p:sp>
        <p:nvSpPr>
          <p:cNvPr id="27" name="td"/>
          <p:cNvSpPr txBox="1"/>
          <p:nvPr/>
        </p:nvSpPr>
        <p:spPr>
          <a:xfrm>
            <a:off x="8823960" y="219456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 with teammate data</a:t>
            </a:r>
          </a:p>
        </p:txBody>
      </p:sp>
      <p:sp>
        <p:nvSpPr>
          <p:cNvPr id="28" name="td"/>
          <p:cNvSpPr txBox="1"/>
          <p:nvPr/>
        </p:nvSpPr>
        <p:spPr>
          <a:xfrm>
            <a:off x="594360" y="269748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Lookup</a:t>
            </a:r>
          </a:p>
        </p:txBody>
      </p:sp>
      <p:sp>
        <p:nvSpPr>
          <p:cNvPr id="29" name="td"/>
          <p:cNvSpPr txBox="1"/>
          <p:nvPr/>
        </p:nvSpPr>
        <p:spPr>
          <a:xfrm>
            <a:off x="3337560" y="269748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9781 ns avg</a:t>
            </a:r>
          </a:p>
        </p:txBody>
      </p:sp>
      <p:sp>
        <p:nvSpPr>
          <p:cNvPr id="30" name="td"/>
          <p:cNvSpPr txBox="1"/>
          <p:nvPr/>
        </p:nvSpPr>
        <p:spPr>
          <a:xfrm>
            <a:off x="6080760" y="269748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1" name="td"/>
          <p:cNvSpPr txBox="1"/>
          <p:nvPr/>
        </p:nvSpPr>
        <p:spPr>
          <a:xfrm>
            <a:off x="8823960" y="269748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2" name="td"/>
          <p:cNvSpPr txBox="1"/>
          <p:nvPr/>
        </p:nvSpPr>
        <p:spPr>
          <a:xfrm>
            <a:off x="594360" y="320040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Memory</a:t>
            </a:r>
          </a:p>
        </p:txBody>
      </p:sp>
      <p:sp>
        <p:nvSpPr>
          <p:cNvPr id="33" name="td"/>
          <p:cNvSpPr txBox="1"/>
          <p:nvPr/>
        </p:nvSpPr>
        <p:spPr>
          <a:xfrm>
            <a:off x="3337560" y="320040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34" name="td"/>
          <p:cNvSpPr txBox="1"/>
          <p:nvPr/>
        </p:nvSpPr>
        <p:spPr>
          <a:xfrm>
            <a:off x="6080760" y="320040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5" name="td"/>
          <p:cNvSpPr txBox="1"/>
          <p:nvPr/>
        </p:nvSpPr>
        <p:spPr>
          <a:xfrm>
            <a:off x="8823960" y="320040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6" name="td"/>
          <p:cNvSpPr txBox="1"/>
          <p:nvPr/>
        </p:nvSpPr>
        <p:spPr>
          <a:xfrm>
            <a:off x="594360" y="370332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Best fit</a:t>
            </a:r>
          </a:p>
        </p:txBody>
      </p:sp>
      <p:sp>
        <p:nvSpPr>
          <p:cNvPr id="37" name="td"/>
          <p:cNvSpPr txBox="1"/>
          <p:nvPr/>
        </p:nvSpPr>
        <p:spPr>
          <a:xfrm>
            <a:off x="3337560" y="370332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IP bits are discriminative</a:t>
            </a:r>
          </a:p>
        </p:txBody>
      </p:sp>
      <p:sp>
        <p:nvSpPr>
          <p:cNvPr id="38" name="td"/>
          <p:cNvSpPr txBox="1"/>
          <p:nvPr/>
        </p:nvSpPr>
        <p:spPr>
          <a:xfrm>
            <a:off x="6080760" y="370332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9" name="td"/>
          <p:cNvSpPr txBox="1"/>
          <p:nvPr/>
        </p:nvSpPr>
        <p:spPr>
          <a:xfrm>
            <a:off x="8823960" y="3703320"/>
            <a:ext cx="27432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60" name="note"/>
          <p:cNvSpPr txBox="1"/>
          <p:nvPr/>
        </p:nvSpPr>
        <p:spPr>
          <a:xfrm>
            <a:off x="822960" y="5321808"/>
            <a:ext cx="100584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400" dirty="0" smtClean="0">
                <a:solidFill>
                  <a:srgbClr val="52606D"/>
                </a:solidFill>
                <a:latin typeface="Microsoft JhengHei"/>
                <a:ea typeface="Microsoft JhengHei"/>
              </a:rPr>
              <a:t>報告已放入可替換比較表；取得同組兩位數據後，直接更新 Algorithm A/B 欄位即可。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kicker"/>
          <p:cNvSpPr txBox="1"/>
          <p:nvPr/>
        </p:nvSpPr>
        <p:spPr>
          <a:xfrm>
            <a:off x="502920" y="274320"/>
            <a:ext cx="3017520" cy="292608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900" b="1" dirty="0" smtClean="0">
                <a:solidFill>
                  <a:srgbClr val="2F9CBB"/>
                </a:solidFill>
                <a:latin typeface="Microsoft JhengHei"/>
                <a:ea typeface="Microsoft JhengHei"/>
              </a:rPr>
              <a:t>CONCLUSION</a:t>
            </a:r>
          </a:p>
        </p:txBody>
      </p:sp>
      <p:cxnSp>
        <p:nvCxnSpPr>
          <p:cNvPr id="3" name="lin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itle"/>
          <p:cNvSpPr txBox="1"/>
          <p:nvPr/>
        </p:nvSpPr>
        <p:spPr>
          <a:xfrm>
            <a:off x="502920" y="749808"/>
            <a:ext cx="1083564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2700" b="1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DBTable 把 ruleset 分布轉成快速 bucket index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822960" y="1828800"/>
            <a:ext cx="10058400" cy="29260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優點：查詢候選集合小，對 ACL-like ruleset 的平均 lookup latency 有利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代價：wildcard prefix 會造成 replication，完整最佳化實作比簡單 hash table 複雜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本專案已完成 dataset、程式、benchmark、報告、PPT 與錄影講稿</a:t>
            </a:r>
          </a:p>
          <a:p>
            <a:pPr algn="l"/>
            <a:r>
              <a:rPr lang="zh-TW" sz="1600" dirty="0" smtClean="0">
                <a:solidFill>
                  <a:srgbClr val="14213D"/>
                </a:solidFill>
                <a:latin typeface="Microsoft JhengHei"/>
                <a:ea typeface="Microsoft JhengHei"/>
              </a:rPr>
              <a:t>- 下一步：取得組員演算法與結果，完成正式比較分析表</a:t>
            </a:r>
          </a:p>
        </p:txBody>
      </p:sp>
      <p:sp>
        <p:nvSpPr>
          <p:cNvPr id="900" name="footer"/>
          <p:cNvSpPr txBox="1"/>
          <p:nvPr/>
        </p:nvSpPr>
        <p:spPr>
          <a:xfrm>
            <a:off x="9875520" y="6455664"/>
            <a:ext cx="1783080" cy="16459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45720" tIns="45720" rIns="45720" bIns="45720"/>
          <a:lstStyle/>
          <a:p>
            <a:pPr algn="r"/>
            <a:r>
              <a:rPr lang="zh-TW" sz="800" dirty="0" smtClean="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Table">
  <a:themeElements>
    <a:clrScheme name="DBTable">
      <a:dk1>
        <a:srgbClr val="14213D"/>
      </a:dk1>
      <a:lt1>
        <a:srgbClr val="FFFFFF"/>
      </a:lt1>
      <a:dk2>
        <a:srgbClr val="1F4E79"/>
      </a:dk2>
      <a:lt2>
        <a:srgbClr val="F7FAFC"/>
      </a:lt2>
      <a:accent1>
        <a:srgbClr val="2F9CBB"/>
      </a:accent1>
      <a:accent2>
        <a:srgbClr val="2E7D59"/>
      </a:accent2>
      <a:accent3>
        <a:srgbClr val="A23B3B"/>
      </a:accent3>
      <a:accent4>
        <a:srgbClr val="52606D"/>
      </a:accent4>
      <a:accent5>
        <a:srgbClr val="A6B7C8"/>
      </a:accent5>
      <a:accent6>
        <a:srgbClr val="FFF7E6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</a:majorFont>
      <a:minorFont>
        <a:latin typeface="Microsoft JhengHei"/>
        <a:ea typeface="Microsoft JhengHe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DBTable Packet Classification</dc:title>
  <dc:creator>Codex</dc:creator>
  <cp:lastModifiedBy>Codex</cp:lastModifiedBy>
</cp:coreProperties>
</file>