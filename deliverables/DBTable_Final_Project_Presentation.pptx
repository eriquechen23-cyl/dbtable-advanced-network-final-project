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10" name="text"/>
          <p:cNvSpPr txBox="1"/>
          <p:nvPr/>
        </p:nvSpPr>
        <p:spPr>
          <a:xfrm>
            <a:off x="658368" y="777240"/>
            <a:ext cx="5303520" cy="7315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4400" b="1">
                <a:solidFill>
                  <a:srgbClr val="FFFFFF"/>
                </a:solidFill>
                <a:latin typeface="Microsoft JhengHei"/>
                <a:ea typeface="Microsoft JhengHei"/>
              </a:rPr>
              <a:t>DBTable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694944" y="1572768"/>
            <a:ext cx="8046720" cy="4114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000">
                <a:solidFill>
                  <a:srgbClr val="D7E9F3"/>
                </a:solidFill>
                <a:latin typeface="Microsoft JhengHei"/>
                <a:ea typeface="Microsoft JhengHei"/>
              </a:rPr>
              <a:t>用 discriminative bitsets 加速 packet classification</a:t>
            </a:r>
          </a:p>
        </p:txBody>
      </p:sp>
      <p:cxnSp>
        <p:nvCxnSpPr>
          <p:cNvPr id="12" name="rule 12"/>
          <p:cNvCxnSpPr/>
          <p:nvPr/>
        </p:nvCxnSpPr>
        <p:spPr>
          <a:xfrm>
            <a:off x="713232" y="2148840"/>
            <a:ext cx="27432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13" name="metric"/>
          <p:cNvSpPr txBox="1"/>
          <p:nvPr/>
        </p:nvSpPr>
        <p:spPr>
          <a:xfrm>
            <a:off x="713232" y="4754880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F9CBB"/>
                </a:solidFill>
                <a:latin typeface="Microsoft JhengHei"/>
                <a:ea typeface="Microsoft JhengHei"/>
              </a:rPr>
              <a:t>99,330</a:t>
            </a:r>
          </a:p>
        </p:txBody>
      </p:sp>
      <p:sp>
        <p:nvSpPr>
          <p:cNvPr id="14" name="metric-label"/>
          <p:cNvSpPr txBox="1"/>
          <p:nvPr/>
        </p:nvSpPr>
        <p:spPr>
          <a:xfrm>
            <a:off x="713232" y="519379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valid ClassBench ACL1 rules</a:t>
            </a:r>
          </a:p>
        </p:txBody>
      </p:sp>
      <p:sp>
        <p:nvSpPr>
          <p:cNvPr id="15" name="metric"/>
          <p:cNvSpPr txBox="1"/>
          <p:nvPr/>
        </p:nvSpPr>
        <p:spPr>
          <a:xfrm>
            <a:off x="2999232" y="4754880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F9CBB"/>
                </a:solidFill>
                <a:latin typeface="Microsoft JhengHei"/>
                <a:ea typeface="Microsoft JhengHei"/>
              </a:rPr>
              <a:t>60 ns</a:t>
            </a:r>
          </a:p>
        </p:txBody>
      </p:sp>
      <p:sp>
        <p:nvSpPr>
          <p:cNvPr id="16" name="metric-label"/>
          <p:cNvSpPr txBox="1"/>
          <p:nvPr/>
        </p:nvSpPr>
        <p:spPr>
          <a:xfrm>
            <a:off x="2999232" y="519379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average lookup</a:t>
            </a:r>
          </a:p>
        </p:txBody>
      </p:sp>
      <p:sp>
        <p:nvSpPr>
          <p:cNvPr id="17" name="metric"/>
          <p:cNvSpPr txBox="1"/>
          <p:nvPr/>
        </p:nvSpPr>
        <p:spPr>
          <a:xfrm>
            <a:off x="5285232" y="4754880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F9CBB"/>
                </a:solidFill>
                <a:latin typeface="Microsoft JhengHei"/>
                <a:ea typeface="Microsoft JhengHei"/>
              </a:rPr>
              <a:t>4.02 MiB</a:t>
            </a:r>
          </a:p>
        </p:txBody>
      </p:sp>
      <p:sp>
        <p:nvSpPr>
          <p:cNvPr id="18" name="metric-label"/>
          <p:cNvSpPr txBox="1"/>
          <p:nvPr/>
        </p:nvSpPr>
        <p:spPr>
          <a:xfrm>
            <a:off x="5285232" y="519379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estimated memory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731520" y="6309360"/>
            <a:ext cx="6035040" cy="22860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>
                <a:solidFill>
                  <a:srgbClr val="BFD8E5"/>
                </a:solidFill>
                <a:latin typeface="Microsoft JhengHei"/>
                <a:ea typeface="Microsoft JhengHei"/>
              </a:rPr>
              <a:t>高效能網路期末專案 | P77141155 陳燁龍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BFD8E5"/>
                </a:solidFill>
                <a:latin typeface="Microsoft JhengHei"/>
                <a:ea typeface="Microsoft JhengHei"/>
              </a:rPr>
              <a:t>DBTable Packet Classification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PROBLEM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封包分類其實是在大量規則中找最高優先權答案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1520" y="1828800"/>
            <a:ext cx="292608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封包五元組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source IP / destination IP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source port / destination port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protocol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572000" y="1828800"/>
            <a:ext cx="274320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規則條件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IP prefix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port range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protocol mask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priority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8229600" y="1828800"/>
            <a:ext cx="2560320" cy="12801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查詢目標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找出所有匹配規則中</a:t>
            </a:r>
          </a:p>
          <a:p>
            <a:pPr algn="ctr"/>
            <a:r>
              <a:rPr lang="zh-TW" sz="1700" b="1">
                <a:solidFill>
                  <a:srgbClr val="14213D"/>
                </a:solidFill>
                <a:latin typeface="Microsoft JhengHei"/>
                <a:ea typeface="Microsoft JhengHei"/>
              </a:rPr>
              <a:t>priority 最高者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14400" y="4160520"/>
            <a:ext cx="10149840" cy="73152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0C98F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900">
                <a:solidFill>
                  <a:srgbClr val="14213D"/>
                </a:solidFill>
                <a:latin typeface="Microsoft JhengHei"/>
                <a:ea typeface="Microsoft JhengHei"/>
              </a:rPr>
              <a:t>困難點：規則數可能非常大，若每個封包都掃完整 ruleset，lookup latency 會隨規則數成長。DBTable 的目的就是先縮小候選規則集合。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PLAIN LANGUAGE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白話版：DBTable 像圖書館索引，不是一本一本找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22960" y="1920240"/>
            <a:ext cx="2011680" cy="502920"/>
          </a:xfrm>
          <a:prstGeom prst="roundRect">
            <a:avLst/>
          </a:prstGeom>
          <a:solidFill>
            <a:srgbClr val="FDECEC"/>
          </a:solidFill>
          <a:ln w="9525">
            <a:solidFill>
              <a:srgbClr val="DDAAAA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沒有索引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822960" y="2606040"/>
            <a:ext cx="29260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DAAAA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500">
                <a:solidFill>
                  <a:srgbClr val="14213D"/>
                </a:solidFill>
                <a:latin typeface="Microsoft JhengHei"/>
                <a:ea typeface="Microsoft JhengHei"/>
              </a:rPr>
              <a:t>封包來了就從第 1 條規則掃到最後一條。</a:t>
            </a:r>
          </a:p>
          <a:p>
            <a:pPr algn="l"/>
            <a:r>
              <a:rPr lang="zh-TW" sz="1500">
                <a:solidFill>
                  <a:srgbClr val="14213D"/>
                </a:solidFill>
                <a:latin typeface="Microsoft JhengHei"/>
                <a:ea typeface="Microsoft JhengHei"/>
              </a:rPr>
              <a:t>規則越多，查詢越慢。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572000" y="1920240"/>
            <a:ext cx="2194560" cy="502920"/>
          </a:xfrm>
          <a:prstGeom prst="roundRect">
            <a:avLst/>
          </a:prstGeom>
          <a:solidFill>
            <a:srgbClr val="EAF7FA"/>
          </a:solidFill>
          <a:ln w="9525">
            <a:solidFill>
              <a:srgbClr val="9CCBD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DBTable 的索引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4572000" y="2606040"/>
            <a:ext cx="31089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CCBD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500">
                <a:solidFill>
                  <a:srgbClr val="14213D"/>
                </a:solidFill>
                <a:latin typeface="Microsoft JhengHei"/>
                <a:ea typeface="Microsoft JhengHei"/>
              </a:rPr>
              <a:t>先挑出最能分辨規則的 bit，做成 bucket table。</a:t>
            </a:r>
          </a:p>
          <a:p>
            <a:pPr algn="l"/>
            <a:r>
              <a:rPr lang="zh-TW" sz="1500">
                <a:solidFill>
                  <a:srgbClr val="14213D"/>
                </a:solidFill>
                <a:latin typeface="Microsoft JhengHei"/>
                <a:ea typeface="Microsoft JhengHei"/>
              </a:rPr>
              <a:t>封包先查索引，再進小 bucket 比對。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8778240" y="1920240"/>
            <a:ext cx="1645920" cy="502920"/>
          </a:xfrm>
          <a:prstGeom prst="roundRect">
            <a:avLst/>
          </a:prstGeom>
          <a:solidFill>
            <a:srgbClr val="EDF7F1"/>
          </a:solidFill>
          <a:ln w="9525">
            <a:solidFill>
              <a:srgbClr val="9FC8AE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結果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8366760" y="2606040"/>
            <a:ext cx="237744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C8AE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500">
                <a:solidFill>
                  <a:srgbClr val="14213D"/>
                </a:solidFill>
                <a:latin typeface="Microsoft JhengHei"/>
                <a:ea typeface="Microsoft JhengHei"/>
              </a:rPr>
              <a:t>不是少做正確性檢查，</a:t>
            </a:r>
          </a:p>
          <a:p>
            <a:pPr algn="ctr"/>
            <a:r>
              <a:rPr lang="zh-TW" sz="1500">
                <a:solidFill>
                  <a:srgbClr val="14213D"/>
                </a:solidFill>
                <a:latin typeface="Microsoft JhengHei"/>
                <a:ea typeface="Microsoft JhengHei"/>
              </a:rPr>
              <a:t>而是少看不相關的規則。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1097280" y="4572000"/>
            <a:ext cx="9875520" cy="5029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1F4E79"/>
                </a:solidFill>
                <a:latin typeface="Microsoft JhengHei"/>
                <a:ea typeface="Microsoft JhengHei"/>
              </a:rPr>
              <a:t>一句話：先用有辨識力的 bit 快速定位候選 bucket，再用完整五元組驗證正確答案。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METHOD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DBTable 方法可以拆成四個步驟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94360" y="1737360"/>
            <a:ext cx="3657600" cy="621792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Step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4251960" y="1737360"/>
            <a:ext cx="3657600" cy="621792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白話意思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7909560" y="1737360"/>
            <a:ext cx="3657600" cy="621792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技術意義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594360" y="2359152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1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4251960" y="2359152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觀察所有規則，看哪些 IP bit 最能分群。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7909560" y="2359152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統計 bit 的分割平衡度與覆蓋率。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594360" y="2980944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2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4251960" y="2980944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挑出最有辨識力的 bit。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7909560" y="2980944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形成 discriminative bitset。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594360" y="3602736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3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4251960" y="3602736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依這些 bit 把規則放進 bucket。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7909560" y="3602736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wildcard prefix 會複製到多個 bucket。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94360" y="4224528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4251960" y="4224528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封包先找 bucket，再完整比對。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7909560" y="4224528"/>
            <a:ext cx="3657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exact match + highest priority。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WHY FAST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為什麼會快：把十萬筆規則縮成一個候選 bucket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22960" y="1874519"/>
            <a:ext cx="2286000" cy="9144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0C98F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Full ruleset</a:t>
            </a:r>
          </a:p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約 99K rules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3749039" y="1874519"/>
            <a:ext cx="2286000" cy="914400"/>
          </a:xfrm>
          <a:prstGeom prst="roundRect">
            <a:avLst/>
          </a:prstGeom>
          <a:solidFill>
            <a:srgbClr val="EAF7FA"/>
          </a:solidFill>
          <a:ln w="9525">
            <a:solidFill>
              <a:srgbClr val="9CCBD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selected bits</a:t>
            </a:r>
          </a:p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12 個辨識 bit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675120" y="1874519"/>
            <a:ext cx="2286000" cy="914400"/>
          </a:xfrm>
          <a:prstGeom prst="roundRect">
            <a:avLst/>
          </a:prstGeom>
          <a:solidFill>
            <a:srgbClr val="EDF7F1"/>
          </a:solidFill>
          <a:ln w="9525">
            <a:solidFill>
              <a:srgbClr val="9FC8AE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bucket table</a:t>
            </a:r>
          </a:p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4096 buckets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9326880" y="1874519"/>
            <a:ext cx="21488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candidate bucket</a:t>
            </a:r>
          </a:p>
          <a:p>
            <a:pPr algn="ctr"/>
            <a:r>
              <a:rPr lang="zh-TW" sz="1800" b="1">
                <a:solidFill>
                  <a:srgbClr val="14213D"/>
                </a:solidFill>
                <a:latin typeface="Microsoft JhengHei"/>
                <a:ea typeface="Microsoft JhengHei"/>
              </a:rPr>
              <a:t>平均 169 rules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914400" y="4023360"/>
            <a:ext cx="100584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800">
                <a:solidFill>
                  <a:srgbClr val="14213D"/>
                </a:solidFill>
                <a:latin typeface="Microsoft JhengHei"/>
                <a:ea typeface="Microsoft JhengHei"/>
              </a:rPr>
              <a:t>DBTable 的加速不是跳過規則判斷，而是避免每次都掃完整 ruleset。最後仍做 exact five-tuple match，所以可以維持分類正確性。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TRADEOFFS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代價：用建表成本與記憶體換查詢速度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22960" y="1828800"/>
            <a:ext cx="10241280" cy="310896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Build time：建表前要分析 ruleset，挑出 discriminative bits。</a:t>
            </a:r>
          </a:p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Memory：wildcard prefix 規則可能被放入多個 bucket，造成 replication。</a:t>
            </a:r>
          </a:p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Lookup：封包只進入相對小的候選 bucket，平均查詢成本下降。</a:t>
            </a:r>
          </a:p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適用情境：IP prefix 分布有可分辨性、查詢量很大、願意用建表換 lookup latency。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ARCHITECTURE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架構流程：建表與查詢分成兩條路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731520" y="1828800"/>
            <a:ext cx="12801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Rules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2468880" y="1828800"/>
            <a:ext cx="128016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Parser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4206240" y="1828800"/>
            <a:ext cx="155448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Bit ranking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217920" y="1828800"/>
            <a:ext cx="16459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Bucket table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731520" y="3657600"/>
            <a:ext cx="1280160" cy="6858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0C98F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Packet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2468880" y="3657600"/>
            <a:ext cx="1645920" cy="6858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0C98F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Key extraction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4663440" y="3657600"/>
            <a:ext cx="1828800" cy="6858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0C98F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Candidate bucket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7132320" y="3657600"/>
            <a:ext cx="1737360" cy="685800"/>
          </a:xfrm>
          <a:prstGeom prst="roundRect">
            <a:avLst/>
          </a:prstGeom>
          <a:solidFill>
            <a:srgbClr val="FFF7E6"/>
          </a:solidFill>
          <a:ln w="9525">
            <a:solidFill>
              <a:srgbClr val="E0C98F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Exact match</a:t>
            </a:r>
          </a:p>
          <a:p>
            <a:pPr algn="ctr"/>
            <a:r>
              <a:rPr lang="zh-TW" sz="1400" b="1">
                <a:solidFill>
                  <a:srgbClr val="14213D"/>
                </a:solidFill>
                <a:latin typeface="Microsoft JhengHei"/>
                <a:ea typeface="Microsoft JhengHei"/>
              </a:rPr>
              <a:t>+ priority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IMPLEMENTATION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本專案實作：使用 AMPS/助教 C++ DBTable.cpp 實測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640080" y="1737360"/>
            <a:ext cx="5486400" cy="566928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File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6126480" y="1737360"/>
            <a:ext cx="5486400" cy="566928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Role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40080" y="2304288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external/amps/src/DBTable.cpp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6126480" y="2304288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AMPS/助教 DBTable C++ 實作來源。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640080" y="2871215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cpp/benchmark_ta_dbtable.cpp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6126480" y="2871215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ClassBench parser + DBT::DBTable benchmark harness。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40080" y="3438144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scripts/run_ta_dbtable_experiment.py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6126480" y="3438144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自動編譯並跑 5 次，輸出正式數據。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640080" y="4005072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results/ta_dbtable_results.json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6126480" y="4005072"/>
            <a:ext cx="5486400" cy="5669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正式 build/lookup/memory 結果。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868680" y="5074920"/>
            <a:ext cx="10241280" cy="43891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300" b="1">
                <a:solidFill>
                  <a:srgbClr val="A23B3B"/>
                </a:solidFill>
                <a:latin typeface="Microsoft JhengHei"/>
                <a:ea typeface="Microsoft JhengHei"/>
              </a:rPr>
              <a:t>註：Downloads 的助教檔保留於 ta_reference/；實測使用 AMPS 官方 src/DBTable.cpp，避免本地複製檔中 Init 行被註解吃掉的問題。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DATASET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ClassBench ACL1 100K rules 作為測試資料集</a:t>
            </a:r>
          </a:p>
        </p:txBody>
      </p:sp>
      <p:sp>
        <p:nvSpPr>
          <p:cNvPr id="20" name="metric"/>
          <p:cNvSpPr txBox="1"/>
          <p:nvPr/>
        </p:nvSpPr>
        <p:spPr>
          <a:xfrm>
            <a:off x="82296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1F4E79"/>
                </a:solidFill>
                <a:latin typeface="Microsoft JhengHei"/>
                <a:ea typeface="Microsoft JhengHei"/>
              </a:rPr>
              <a:t>99,330</a:t>
            </a:r>
          </a:p>
        </p:txBody>
      </p:sp>
      <p:sp>
        <p:nvSpPr>
          <p:cNvPr id="21" name="metric-label"/>
          <p:cNvSpPr txBox="1"/>
          <p:nvPr/>
        </p:nvSpPr>
        <p:spPr>
          <a:xfrm>
            <a:off x="82296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valid parsed rules</a:t>
            </a:r>
          </a:p>
        </p:txBody>
      </p:sp>
      <p:sp>
        <p:nvSpPr>
          <p:cNvPr id="22" name="metric"/>
          <p:cNvSpPr txBox="1"/>
          <p:nvPr/>
        </p:nvSpPr>
        <p:spPr>
          <a:xfrm>
            <a:off x="324612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1F4E79"/>
                </a:solidFill>
                <a:latin typeface="Microsoft JhengHei"/>
                <a:ea typeface="Microsoft JhengHei"/>
              </a:rPr>
              <a:t>100,000</a:t>
            </a:r>
          </a:p>
        </p:txBody>
      </p:sp>
      <p:sp>
        <p:nvSpPr>
          <p:cNvPr id="23" name="metric-label"/>
          <p:cNvSpPr txBox="1"/>
          <p:nvPr/>
        </p:nvSpPr>
        <p:spPr>
          <a:xfrm>
            <a:off x="324612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packets tested</a:t>
            </a:r>
          </a:p>
        </p:txBody>
      </p:sp>
      <p:sp>
        <p:nvSpPr>
          <p:cNvPr id="24" name="metric"/>
          <p:cNvSpPr txBox="1"/>
          <p:nvPr/>
        </p:nvSpPr>
        <p:spPr>
          <a:xfrm>
            <a:off x="566928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1F4E79"/>
                </a:solidFill>
                <a:latin typeface="Microsoft JhengHei"/>
                <a:ea typeface="Microsoft JhengHei"/>
              </a:rPr>
              <a:t>4</a:t>
            </a:r>
          </a:p>
        </p:txBody>
      </p:sp>
      <p:sp>
        <p:nvSpPr>
          <p:cNvPr id="25" name="metric-label"/>
          <p:cNvSpPr txBox="1"/>
          <p:nvPr/>
        </p:nvSpPr>
        <p:spPr>
          <a:xfrm>
            <a:off x="566928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DBT BINTH</a:t>
            </a:r>
          </a:p>
        </p:txBody>
      </p:sp>
      <p:sp>
        <p:nvSpPr>
          <p:cNvPr id="26" name="metric"/>
          <p:cNvSpPr txBox="1"/>
          <p:nvPr/>
        </p:nvSpPr>
        <p:spPr>
          <a:xfrm>
            <a:off x="809244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1F4E79"/>
                </a:solidFill>
                <a:latin typeface="Microsoft JhengHei"/>
                <a:ea typeface="Microsoft JhengHei"/>
              </a:rPr>
              <a:t>5</a:t>
            </a:r>
          </a:p>
        </p:txBody>
      </p:sp>
      <p:sp>
        <p:nvSpPr>
          <p:cNvPr id="27" name="metric-label"/>
          <p:cNvSpPr txBox="1"/>
          <p:nvPr/>
        </p:nvSpPr>
        <p:spPr>
          <a:xfrm>
            <a:off x="809244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benchmark repeats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14400" y="3749039"/>
            <a:ext cx="9875520" cy="128016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600">
                <a:solidFill>
                  <a:srgbClr val="14213D"/>
                </a:solidFill>
                <a:latin typeface="Microsoft JhengHei"/>
                <a:ea typeface="Microsoft JhengHei"/>
              </a:rPr>
              <a:t>- 資料位於 data/classbench/。</a:t>
            </a:r>
          </a:p>
          <a:p>
            <a:pPr algn="l"/>
            <a:r>
              <a:rPr lang="zh-TW" sz="1600">
                <a:solidFill>
                  <a:srgbClr val="14213D"/>
                </a:solidFill>
                <a:latin typeface="Microsoft JhengHei"/>
                <a:ea typeface="Microsoft JhengHei"/>
              </a:rPr>
              <a:t>- 檔名為 100K，實際有效可解析規則數為 99,330。</a:t>
            </a:r>
          </a:p>
          <a:p>
            <a:pPr algn="l"/>
            <a:r>
              <a:rPr lang="zh-TW" sz="1600">
                <a:solidFill>
                  <a:srgbClr val="14213D"/>
                </a:solidFill>
                <a:latin typeface="Microsoft JhengHei"/>
                <a:ea typeface="Microsoft JhengHei"/>
              </a:rPr>
              <a:t>- 外部參考實作保留於 external/amps，但不直接提交第三方 clone。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RESULTS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實驗結果：候選集合被縮小，lookup 只看小 bucket</a:t>
            </a:r>
          </a:p>
        </p:txBody>
      </p:sp>
      <p:sp>
        <p:nvSpPr>
          <p:cNvPr id="20" name="metric"/>
          <p:cNvSpPr txBox="1"/>
          <p:nvPr/>
        </p:nvSpPr>
        <p:spPr>
          <a:xfrm>
            <a:off x="82296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E7D59"/>
                </a:solidFill>
                <a:latin typeface="Microsoft JhengHei"/>
                <a:ea typeface="Microsoft JhengHei"/>
              </a:rPr>
              <a:t>0.378 s</a:t>
            </a:r>
          </a:p>
        </p:txBody>
      </p:sp>
      <p:sp>
        <p:nvSpPr>
          <p:cNvPr id="21" name="metric-label"/>
          <p:cNvSpPr txBox="1"/>
          <p:nvPr/>
        </p:nvSpPr>
        <p:spPr>
          <a:xfrm>
            <a:off x="82296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build time</a:t>
            </a:r>
          </a:p>
        </p:txBody>
      </p:sp>
      <p:sp>
        <p:nvSpPr>
          <p:cNvPr id="22" name="metric"/>
          <p:cNvSpPr txBox="1"/>
          <p:nvPr/>
        </p:nvSpPr>
        <p:spPr>
          <a:xfrm>
            <a:off x="324612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E7D59"/>
                </a:solidFill>
                <a:latin typeface="Microsoft JhengHei"/>
                <a:ea typeface="Microsoft JhengHei"/>
              </a:rPr>
              <a:t>60 ns</a:t>
            </a:r>
          </a:p>
        </p:txBody>
      </p:sp>
      <p:sp>
        <p:nvSpPr>
          <p:cNvPr id="23" name="metric-label"/>
          <p:cNvSpPr txBox="1"/>
          <p:nvPr/>
        </p:nvSpPr>
        <p:spPr>
          <a:xfrm>
            <a:off x="324612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average lookup</a:t>
            </a:r>
          </a:p>
        </p:txBody>
      </p:sp>
      <p:sp>
        <p:nvSpPr>
          <p:cNvPr id="24" name="metric"/>
          <p:cNvSpPr txBox="1"/>
          <p:nvPr/>
        </p:nvSpPr>
        <p:spPr>
          <a:xfrm>
            <a:off x="566928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E7D59"/>
                </a:solidFill>
                <a:latin typeface="Microsoft JhengHei"/>
                <a:ea typeface="Microsoft JhengHei"/>
              </a:rPr>
              <a:t>53 ns</a:t>
            </a:r>
          </a:p>
        </p:txBody>
      </p:sp>
      <p:sp>
        <p:nvSpPr>
          <p:cNvPr id="25" name="metric-label"/>
          <p:cNvSpPr txBox="1"/>
          <p:nvPr/>
        </p:nvSpPr>
        <p:spPr>
          <a:xfrm>
            <a:off x="566928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min avg lookup</a:t>
            </a:r>
          </a:p>
        </p:txBody>
      </p:sp>
      <p:sp>
        <p:nvSpPr>
          <p:cNvPr id="26" name="metric"/>
          <p:cNvSpPr txBox="1"/>
          <p:nvPr/>
        </p:nvSpPr>
        <p:spPr>
          <a:xfrm>
            <a:off x="8092440" y="1874519"/>
            <a:ext cx="21488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2000" b="1">
                <a:solidFill>
                  <a:srgbClr val="2E7D59"/>
                </a:solidFill>
                <a:latin typeface="Microsoft JhengHei"/>
                <a:ea typeface="Microsoft JhengHei"/>
              </a:rPr>
              <a:t>4.02 MiB</a:t>
            </a:r>
          </a:p>
        </p:txBody>
      </p:sp>
      <p:sp>
        <p:nvSpPr>
          <p:cNvPr id="27" name="metric-label"/>
          <p:cNvSpPr txBox="1"/>
          <p:nvPr/>
        </p:nvSpPr>
        <p:spPr>
          <a:xfrm>
            <a:off x="8092440" y="2313432"/>
            <a:ext cx="2148840" cy="411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ctr"/>
            <a:r>
              <a:rPr lang="zh-TW" sz="1000">
                <a:solidFill>
                  <a:srgbClr val="52606D"/>
                </a:solidFill>
                <a:latin typeface="Microsoft JhengHei"/>
                <a:ea typeface="Microsoft JhengHei"/>
              </a:rPr>
              <a:t>estimated memory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914400" y="4023360"/>
            <a:ext cx="9875520" cy="11887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600">
                <a:solidFill>
                  <a:srgbClr val="14213D"/>
                </a:solidFill>
                <a:latin typeface="Microsoft JhengHei"/>
                <a:ea typeface="Microsoft JhengHei"/>
              </a:rPr>
              <a:t>- 4096 buckets 將近十萬規則分成平均約 169 筆的候選集合。</a:t>
            </a:r>
          </a:p>
          <a:p>
            <a:pPr algn="l"/>
            <a:r>
              <a:rPr lang="zh-TW" sz="1600">
                <a:solidFill>
                  <a:srgbClr val="14213D"/>
                </a:solidFill>
                <a:latin typeface="Microsoft JhengHei"/>
                <a:ea typeface="Microsoft JhengHei"/>
              </a:rPr>
              <a:t>- Lookup 成本主要由 candidate bucket scan 與 exact match 決定。</a:t>
            </a:r>
          </a:p>
          <a:p>
            <a:pPr algn="l"/>
            <a:r>
              <a:rPr lang="zh-TW" sz="1600">
                <a:solidFill>
                  <a:srgbClr val="14213D"/>
                </a:solidFill>
                <a:latin typeface="Microsoft JhengHei"/>
                <a:ea typeface="Microsoft JhengHei"/>
              </a:rPr>
              <a:t>- Correctness smoke test：200 sampled packets matched linear scan oracle。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COMPARISON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比較結果：DBTable 查詢最快，CutSplit 最省記憶體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594360" y="1737360"/>
            <a:ext cx="2743200" cy="548640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Metric</a:t>
            </a:r>
          </a:p>
        </p:txBody>
      </p:sp>
      <p:sp>
        <p:nvSpPr>
          <p:cNvPr id="21" name="text"/>
          <p:cNvSpPr txBox="1"/>
          <p:nvPr/>
        </p:nvSpPr>
        <p:spPr>
          <a:xfrm>
            <a:off x="3337560" y="1737360"/>
            <a:ext cx="2743200" cy="548640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DBTable</a:t>
            </a:r>
          </a:p>
        </p:txBody>
      </p:sp>
      <p:sp>
        <p:nvSpPr>
          <p:cNvPr id="22" name="text"/>
          <p:cNvSpPr txBox="1"/>
          <p:nvPr/>
        </p:nvSpPr>
        <p:spPr>
          <a:xfrm>
            <a:off x="6080760" y="1737360"/>
            <a:ext cx="2743200" cy="548640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HybridTSS</a:t>
            </a:r>
          </a:p>
        </p:txBody>
      </p:sp>
      <p:sp>
        <p:nvSpPr>
          <p:cNvPr id="23" name="text"/>
          <p:cNvSpPr txBox="1"/>
          <p:nvPr/>
        </p:nvSpPr>
        <p:spPr>
          <a:xfrm>
            <a:off x="8823960" y="1737360"/>
            <a:ext cx="2743200" cy="548640"/>
          </a:xfrm>
          <a:prstGeom prst="roundRect">
            <a:avLst/>
          </a:prstGeom>
          <a:solidFill>
            <a:srgbClr val="E6F1F7"/>
          </a:solidFill>
          <a:ln w="9525">
            <a:solidFill>
              <a:srgbClr val="A6B7C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000" b="1">
                <a:solidFill>
                  <a:srgbClr val="14213D"/>
                </a:solidFill>
                <a:latin typeface="Microsoft JhengHei"/>
                <a:ea typeface="Microsoft JhengHei"/>
              </a:rPr>
              <a:t>CutSplit</a:t>
            </a:r>
          </a:p>
        </p:txBody>
      </p:sp>
      <p:sp>
        <p:nvSpPr>
          <p:cNvPr id="24" name="text"/>
          <p:cNvSpPr txBox="1"/>
          <p:nvPr/>
        </p:nvSpPr>
        <p:spPr>
          <a:xfrm>
            <a:off x="594360" y="228600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Build</a:t>
            </a:r>
          </a:p>
        </p:txBody>
      </p:sp>
      <p:sp>
        <p:nvSpPr>
          <p:cNvPr id="25" name="text"/>
          <p:cNvSpPr txBox="1"/>
          <p:nvPr/>
        </p:nvSpPr>
        <p:spPr>
          <a:xfrm>
            <a:off x="3337560" y="228600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0.378 s</a:t>
            </a:r>
          </a:p>
        </p:txBody>
      </p:sp>
      <p:sp>
        <p:nvSpPr>
          <p:cNvPr id="26" name="text"/>
          <p:cNvSpPr txBox="1"/>
          <p:nvPr/>
        </p:nvSpPr>
        <p:spPr>
          <a:xfrm>
            <a:off x="6080760" y="228600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0.0249 s</a:t>
            </a:r>
          </a:p>
        </p:txBody>
      </p:sp>
      <p:sp>
        <p:nvSpPr>
          <p:cNvPr id="27" name="text"/>
          <p:cNvSpPr txBox="1"/>
          <p:nvPr/>
        </p:nvSpPr>
        <p:spPr>
          <a:xfrm>
            <a:off x="8823960" y="228600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0.4625 s</a:t>
            </a:r>
          </a:p>
        </p:txBody>
      </p:sp>
      <p:sp>
        <p:nvSpPr>
          <p:cNvPr id="28" name="text"/>
          <p:cNvSpPr txBox="1"/>
          <p:nvPr/>
        </p:nvSpPr>
        <p:spPr>
          <a:xfrm>
            <a:off x="594360" y="283463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Avg lookup</a:t>
            </a:r>
          </a:p>
        </p:txBody>
      </p:sp>
      <p:sp>
        <p:nvSpPr>
          <p:cNvPr id="29" name="text"/>
          <p:cNvSpPr txBox="1"/>
          <p:nvPr/>
        </p:nvSpPr>
        <p:spPr>
          <a:xfrm>
            <a:off x="3337560" y="283463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60 ns</a:t>
            </a:r>
          </a:p>
        </p:txBody>
      </p:sp>
      <p:sp>
        <p:nvSpPr>
          <p:cNvPr id="30" name="text"/>
          <p:cNvSpPr txBox="1"/>
          <p:nvPr/>
        </p:nvSpPr>
        <p:spPr>
          <a:xfrm>
            <a:off x="6080760" y="283463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133.987 ns</a:t>
            </a:r>
          </a:p>
        </p:txBody>
      </p:sp>
      <p:sp>
        <p:nvSpPr>
          <p:cNvPr id="31" name="text"/>
          <p:cNvSpPr txBox="1"/>
          <p:nvPr/>
        </p:nvSpPr>
        <p:spPr>
          <a:xfrm>
            <a:off x="8823960" y="283463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300.719 ns</a:t>
            </a:r>
          </a:p>
        </p:txBody>
      </p:sp>
      <p:sp>
        <p:nvSpPr>
          <p:cNvPr id="32" name="text"/>
          <p:cNvSpPr txBox="1"/>
          <p:nvPr/>
        </p:nvSpPr>
        <p:spPr>
          <a:xfrm>
            <a:off x="594360" y="338327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Memory</a:t>
            </a:r>
          </a:p>
        </p:txBody>
      </p:sp>
      <p:sp>
        <p:nvSpPr>
          <p:cNvPr id="33" name="text"/>
          <p:cNvSpPr txBox="1"/>
          <p:nvPr/>
        </p:nvSpPr>
        <p:spPr>
          <a:xfrm>
            <a:off x="3337560" y="338327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4.017 MiB</a:t>
            </a:r>
          </a:p>
        </p:txBody>
      </p:sp>
      <p:sp>
        <p:nvSpPr>
          <p:cNvPr id="34" name="text"/>
          <p:cNvSpPr txBox="1"/>
          <p:nvPr/>
        </p:nvSpPr>
        <p:spPr>
          <a:xfrm>
            <a:off x="6080760" y="338327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709.45 MiB</a:t>
            </a:r>
          </a:p>
        </p:txBody>
      </p:sp>
      <p:sp>
        <p:nvSpPr>
          <p:cNvPr id="35" name="text"/>
          <p:cNvSpPr txBox="1"/>
          <p:nvPr/>
        </p:nvSpPr>
        <p:spPr>
          <a:xfrm>
            <a:off x="8823960" y="3383279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0.512 MiB</a:t>
            </a:r>
          </a:p>
        </p:txBody>
      </p:sp>
      <p:sp>
        <p:nvSpPr>
          <p:cNvPr id="36" name="text"/>
          <p:cNvSpPr txBox="1"/>
          <p:nvPr/>
        </p:nvSpPr>
        <p:spPr>
          <a:xfrm>
            <a:off x="594360" y="393192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Takeaway</a:t>
            </a:r>
          </a:p>
        </p:txBody>
      </p:sp>
      <p:sp>
        <p:nvSpPr>
          <p:cNvPr id="37" name="text"/>
          <p:cNvSpPr txBox="1"/>
          <p:nvPr/>
        </p:nvSpPr>
        <p:spPr>
          <a:xfrm>
            <a:off x="3337560" y="393192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fastest lookup</a:t>
            </a:r>
          </a:p>
        </p:txBody>
      </p:sp>
      <p:sp>
        <p:nvSpPr>
          <p:cNvPr id="38" name="text"/>
          <p:cNvSpPr txBox="1"/>
          <p:nvPr/>
        </p:nvSpPr>
        <p:spPr>
          <a:xfrm>
            <a:off x="6080760" y="393192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fastest build</a:t>
            </a:r>
          </a:p>
        </p:txBody>
      </p:sp>
      <p:sp>
        <p:nvSpPr>
          <p:cNvPr id="39" name="text"/>
          <p:cNvSpPr txBox="1"/>
          <p:nvPr/>
        </p:nvSpPr>
        <p:spPr>
          <a:xfrm>
            <a:off x="8823960" y="393192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DEE8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>
                <a:solidFill>
                  <a:srgbClr val="14213D"/>
                </a:solidFill>
                <a:latin typeface="Microsoft JhengHei"/>
                <a:ea typeface="Microsoft JhengHei"/>
              </a:rPr>
              <a:t>lowest memory</a:t>
            </a:r>
          </a:p>
        </p:txBody>
      </p:sp>
      <p:sp>
        <p:nvSpPr>
          <p:cNvPr id="60" name="text"/>
          <p:cNvSpPr txBox="1"/>
          <p:nvPr/>
        </p:nvSpPr>
        <p:spPr>
          <a:xfrm>
            <a:off x="777240" y="5074920"/>
            <a:ext cx="10515600" cy="62179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7"/>
            </a:solidFill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400">
                <a:solidFill>
                  <a:srgbClr val="52606D"/>
                </a:solidFill>
                <a:latin typeface="Microsoft JhengHei"/>
                <a:ea typeface="Microsoft JhengHei"/>
              </a:rPr>
              <a:t>更新後 DBTable 使用 AMPS/助教 C++ 實作重跑：lookup avg 約 56.776 ns，是三者中最快；CutSplit 記憶體最低；HybridTSS 建表最快但記憶體最高。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1695" cy="6858000"/>
          <a:chOff x="0" y="0"/>
          <a:chExt cx="12191695" cy="6858000"/>
        </a:xfrm>
      </p:grpSpPr>
      <p:sp>
        <p:nvSpPr>
          <p:cNvPr id="2" name="text"/>
          <p:cNvSpPr txBox="1"/>
          <p:nvPr/>
        </p:nvSpPr>
        <p:spPr>
          <a:xfrm>
            <a:off x="502920" y="292608"/>
            <a:ext cx="3657600" cy="27432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900" b="1">
                <a:solidFill>
                  <a:srgbClr val="2F9CBB"/>
                </a:solidFill>
                <a:latin typeface="Microsoft JhengHei"/>
                <a:ea typeface="Microsoft JhengHei"/>
              </a:rPr>
              <a:t>CONCLUSION</a:t>
            </a:r>
          </a:p>
        </p:txBody>
      </p:sp>
      <p:cxnSp>
        <p:nvCxnSpPr>
          <p:cNvPr id="3" name="rule 3"/>
          <p:cNvCxnSpPr/>
          <p:nvPr/>
        </p:nvCxnSpPr>
        <p:spPr>
          <a:xfrm>
            <a:off x="502920" y="658368"/>
            <a:ext cx="914400" cy="0"/>
          </a:xfrm>
          <a:prstGeom prst="line">
            <a:avLst/>
          </a:prstGeom>
          <a:ln w="19050">
            <a:solidFill>
              <a:srgbClr val="2F9CBB"/>
            </a:solidFill>
          </a:ln>
        </p:spPr>
      </p:cxnSp>
      <p:sp>
        <p:nvSpPr>
          <p:cNvPr id="4" name="text"/>
          <p:cNvSpPr txBox="1"/>
          <p:nvPr/>
        </p:nvSpPr>
        <p:spPr>
          <a:xfrm>
            <a:off x="502920" y="777240"/>
            <a:ext cx="10881360" cy="713232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2700" b="1">
                <a:solidFill>
                  <a:srgbClr val="14213D"/>
                </a:solidFill>
                <a:latin typeface="Microsoft JhengHei"/>
                <a:ea typeface="Microsoft JhengHei"/>
              </a:rPr>
              <a:t>結論：DBTable 的核心是先定位，再精確驗證</a:t>
            </a:r>
          </a:p>
        </p:txBody>
      </p:sp>
      <p:sp>
        <p:nvSpPr>
          <p:cNvPr id="20" name="text"/>
          <p:cNvSpPr txBox="1"/>
          <p:nvPr/>
        </p:nvSpPr>
        <p:spPr>
          <a:xfrm>
            <a:off x="822960" y="1828800"/>
            <a:ext cx="10058400" cy="29260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DBTable 不是用近似答案換速度，最後仍做完整五元組比對。</a:t>
            </a:r>
          </a:p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它把 ruleset 的分布特性轉換成 bucket index，減少平均 lookup 候選規則數。</a:t>
            </a:r>
          </a:p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優點是查詢快；代價是建表成本、記憶體與 wildcard replication。</a:t>
            </a:r>
          </a:p>
          <a:p>
            <a:pPr algn="l"/>
            <a:r>
              <a:rPr lang="zh-TW" sz="1700">
                <a:solidFill>
                  <a:srgbClr val="14213D"/>
                </a:solidFill>
                <a:latin typeface="Microsoft JhengHei"/>
                <a:ea typeface="Microsoft JhengHei"/>
              </a:rPr>
              <a:t>- 本專案已完成資料集、程式、實驗、報告、PPT 與錄影講稿。</a:t>
            </a:r>
          </a:p>
        </p:txBody>
      </p:sp>
      <p:sp>
        <p:nvSpPr>
          <p:cNvPr id="900" name="text"/>
          <p:cNvSpPr txBox="1"/>
          <p:nvPr/>
        </p:nvSpPr>
        <p:spPr>
          <a:xfrm>
            <a:off x="9784080" y="6446520"/>
            <a:ext cx="1828800" cy="182880"/>
          </a:xfrm>
          <a:prstGeom prst="roundRect">
            <a:avLst/>
          </a:prstGeom>
          <a:noFill/>
          <a:ln>
            <a:noFill/>
          </a:ln>
        </p:spPr>
        <p:txBody>
          <a:bodyPr wrap="square" anchor="mid" lIns="60960" tIns="60960" rIns="60960" bIns="60960"/>
          <a:lstStyle/>
          <a:p>
            <a:pPr algn="r"/>
            <a:r>
              <a:rPr lang="zh-TW" sz="800">
                <a:solidFill>
                  <a:srgbClr val="7A8793"/>
                </a:solidFill>
                <a:latin typeface="Microsoft JhengHei"/>
                <a:ea typeface="Microsoft JhengHei"/>
              </a:rPr>
              <a:t>DBTable Packet Classification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Table">
  <a:themeElements>
    <a:clrScheme name="DBTable">
      <a:dk1>
        <a:srgbClr val="14213D"/>
      </a:dk1>
      <a:lt1>
        <a:srgbClr val="FFFFFF"/>
      </a:lt1>
      <a:dk2>
        <a:srgbClr val="1F4E79"/>
      </a:dk2>
      <a:lt2>
        <a:srgbClr val="F7FAFC"/>
      </a:lt2>
      <a:accent1>
        <a:srgbClr val="2F9CBB"/>
      </a:accent1>
      <a:accent2>
        <a:srgbClr val="2E7D59"/>
      </a:accent2>
      <a:accent3>
        <a:srgbClr val="A23B3B"/>
      </a:accent3>
      <a:accent4>
        <a:srgbClr val="52606D"/>
      </a:accent4>
      <a:accent5>
        <a:srgbClr val="A6B7C8"/>
      </a:accent5>
      <a:accent6>
        <a:srgbClr val="FFF7E6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Microsoft JhengHei"/>
      </a:majorFont>
      <a:minorFont>
        <a:latin typeface="Microsoft JhengHei"/>
        <a:ea typeface="Microsoft JhengHei"/>
      </a:minorFont>
    </a:fontScheme>
    <a:fmtScheme name="Offi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</PresentationFormat>
  <Slides>12</Slides>
</Properties>
</file>

<file path=docProps/core.xml><?xml version="1.0" encoding="utf-8"?>
<cp:coreProperties xmlns:cp="http://schemas.openxmlformats.org/package/2006/metadata/core-properties" xmlns:dc="http://purl.org/dc/elements/1.1/">
  <dc:title>DBTable Packet Classification</dc:title>
  <dc:creator>P77141155 陳燁龍</dc:creator>
  <cp:lastModifiedBy>Codex</cp:lastModifiedBy>
</cp:coreProperties>
</file>